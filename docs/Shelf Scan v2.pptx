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75" r:id="rId2"/>
    <p:sldId id="307" r:id="rId3"/>
    <p:sldId id="277" r:id="rId4"/>
    <p:sldId id="278" r:id="rId5"/>
    <p:sldId id="309" r:id="rId6"/>
    <p:sldId id="310" r:id="rId7"/>
    <p:sldId id="287" r:id="rId8"/>
    <p:sldId id="312" r:id="rId9"/>
    <p:sldId id="308" r:id="rId10"/>
    <p:sldId id="297" r:id="rId11"/>
    <p:sldId id="311" r:id="rId12"/>
    <p:sldId id="284" r:id="rId13"/>
    <p:sldId id="302" r:id="rId14"/>
    <p:sldId id="303" r:id="rId15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243"/>
    <p:restoredTop sz="94658"/>
  </p:normalViewPr>
  <p:slideViewPr>
    <p:cSldViewPr snapToGrid="0">
      <p:cViewPr varScale="1">
        <p:scale>
          <a:sx n="82" d="100"/>
          <a:sy n="82" d="100"/>
        </p:scale>
        <p:origin x="80" y="5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EE59325-20DF-7AC6-F720-8FDF1ECC1B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FC0BE4A8-0BCD-735F-87AA-5303480E27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F8295E4-76D4-6FFA-B458-7933266187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DBFE5-08F8-CE40-8AA4-90CB853B5E08}" type="datetimeFigureOut">
              <a:rPr lang="fr-FR" smtClean="0"/>
              <a:t>10/03/2026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38C530B-61AC-D7FA-E434-AE54F1A842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EC51A8D-2387-FBD3-CF4D-8D471B8013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BFF2FF-DF0E-4E4B-87FD-5B6988E9B4C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314156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4DB5C31-591D-26B7-B172-766EE4BA72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DA29A43-EA0B-26D5-DFF3-5BD4FA3C22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C24E806-6DA7-70BA-8CF0-500891547E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DBFE5-08F8-CE40-8AA4-90CB853B5E08}" type="datetimeFigureOut">
              <a:rPr lang="fr-FR" smtClean="0"/>
              <a:t>10/03/2026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92D5957-1337-D14E-899F-1C0BDE6C90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FDB002C-93D9-8312-1078-91AFAA77DB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BFF2FF-DF0E-4E4B-87FD-5B6988E9B4C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368998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C98EBA5-8432-8E68-D9F2-FA59EC6683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DD6F5B53-2AC9-59A9-C94D-453BC465B9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A3497EC-A32D-E12B-76E4-11E6E938EC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DBFE5-08F8-CE40-8AA4-90CB853B5E08}" type="datetimeFigureOut">
              <a:rPr lang="fr-FR" smtClean="0"/>
              <a:t>10/03/2026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A9A279E-F9F6-4E5D-817E-FE6759A6BA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45F9202-7144-971D-B0D1-77A90331DC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BFF2FF-DF0E-4E4B-87FD-5B6988E9B4C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299661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F57FB97-9410-DBEE-0B90-D5F9EF7B85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037857C-46EB-8BE6-BAEB-4B80D285DC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09479BC0-50F3-6690-4536-1169A7FEE2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6930319B-B9FD-2F1F-8A63-8D51C25B81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DBFE5-08F8-CE40-8AA4-90CB853B5E08}" type="datetimeFigureOut">
              <a:rPr lang="fr-FR" smtClean="0"/>
              <a:t>10/03/2026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0AF3FFFA-25D4-A336-5FCC-F79E1EC678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6DAACA82-8F14-992F-8737-2779F4CD1A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BFF2FF-DF0E-4E4B-87FD-5B6988E9B4C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238349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11468CC-498C-97C6-A23D-11404F2275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B6212BB-08EF-BE55-D5FB-FB46C2EFA1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8769A854-6A86-C829-F0A4-8FA38FB93E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F15E20B8-9B48-86F3-879E-08F92F68D6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5DFEEDB9-11CA-A919-88A6-15C30922A1F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47EBD5EC-1381-4007-36AC-BD5F0D6758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DBFE5-08F8-CE40-8AA4-90CB853B5E08}" type="datetimeFigureOut">
              <a:rPr lang="fr-FR" smtClean="0"/>
              <a:t>10/03/2026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83DD6DAD-EE30-4362-5E89-8418E5CC14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B258F7D1-34FA-90C4-E575-79F99BC848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BFF2FF-DF0E-4E4B-87FD-5B6988E9B4C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945723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D615AC1-6826-7A48-B21C-8269BA9D24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CA845C64-73D8-B272-B1CC-D3C2C526E3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DBFE5-08F8-CE40-8AA4-90CB853B5E08}" type="datetimeFigureOut">
              <a:rPr lang="fr-FR" smtClean="0"/>
              <a:t>10/03/2026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277E8F0E-F4D1-F18D-3423-906F8A0D89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F0EFE916-2D11-C1B3-ECEA-1CCFB5DD2E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BFF2FF-DF0E-4E4B-87FD-5B6988E9B4C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326510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42F631E6-4B0F-9A59-6E75-44B256EFC7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DBFE5-08F8-CE40-8AA4-90CB853B5E08}" type="datetimeFigureOut">
              <a:rPr lang="fr-FR" smtClean="0"/>
              <a:t>10/03/2026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37BA9276-992B-E9EA-5DEC-B74AD3786B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2DD488E-68DC-7E34-4845-6171D5CBAF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BFF2FF-DF0E-4E4B-87FD-5B6988E9B4C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815665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8AD8859-57FB-5CA9-BA90-2236E5DCF5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B0A5109-23AC-02DD-479F-F51726D300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3B0ED60A-CC10-2A1E-26F9-901AE2792A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64C4A1AA-D40E-A530-4F54-17DABDA832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DBFE5-08F8-CE40-8AA4-90CB853B5E08}" type="datetimeFigureOut">
              <a:rPr lang="fr-FR" smtClean="0"/>
              <a:t>10/03/2026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69A68682-F6A3-C0C3-546A-D07A2F3F6B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9D53680C-1393-19D1-0253-30E938E81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BFF2FF-DF0E-4E4B-87FD-5B6988E9B4C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091341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145711A-85CF-6883-1474-9F042A5D02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96E20A6C-5C72-348F-0B0A-9539A2F5D26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CABF36C7-37CA-EF41-E8B4-EAA83F156E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F7C1B213-C52A-8EA6-3B0A-1BFC72B74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DBFE5-08F8-CE40-8AA4-90CB853B5E08}" type="datetimeFigureOut">
              <a:rPr lang="fr-FR" smtClean="0"/>
              <a:t>10/03/2026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814DFE16-3E0C-EEFA-6654-5C28EA8B9F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262AB740-7196-EF43-AC4E-8860B42545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BFF2FF-DF0E-4E4B-87FD-5B6988E9B4C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762442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5B922D1-1F3D-83B2-75AC-126DE55F60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2C7C1191-A733-A1CD-7CB1-8C2385A3035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A4D1CF1-1AD6-0BA1-1657-080E0E1B82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DBFE5-08F8-CE40-8AA4-90CB853B5E08}" type="datetimeFigureOut">
              <a:rPr lang="fr-FR" smtClean="0"/>
              <a:t>10/03/2026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EAE2440-AC03-BCAC-9096-9DF7134CF2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C569F00-8250-8FB8-6661-634C4D0B54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BFF2FF-DF0E-4E4B-87FD-5B6988E9B4C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656401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782057ED-01A7-F20D-981C-B6D31EC7003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F3AAF0F8-D94B-BCBD-3351-BB74E6AFC5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82DED5D-BE6F-7FC7-36BA-DD081EB960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DBFE5-08F8-CE40-8AA4-90CB853B5E08}" type="datetimeFigureOut">
              <a:rPr lang="fr-FR" smtClean="0"/>
              <a:t>10/03/2026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A6EBD9A-8109-A2C7-EA38-0B2787AE90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4871A28-B778-6C67-36BC-0726515E8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BFF2FF-DF0E-4E4B-87FD-5B6988E9B4C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685970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F1B2D"/>
            </a:gs>
            <a:gs pos="100000">
              <a:srgbClr val="16284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5991E3D3-0538-06B9-60FD-C15CD796FF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B937972E-D138-DD61-3597-010FB2BBDD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230022C-3FD9-9FBA-581E-3AC58AE72B2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02DBFE5-08F8-CE40-8AA4-90CB853B5E08}" type="datetimeFigureOut">
              <a:rPr lang="fr-FR" smtClean="0"/>
              <a:t>10/03/2026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E59FB0B-76AF-26EC-5F47-03156E2DC7D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980C1F4-AE5D-D3DD-5D9C-E7DC383B0B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DBFF2FF-DF0E-4E4B-87FD-5B6988E9B4C6}" type="slidenum">
              <a:rPr lang="fr-FR" smtClean="0"/>
              <a:t>‹N°›</a:t>
            </a:fld>
            <a:endParaRPr lang="fr-FR"/>
          </a:p>
        </p:txBody>
      </p:sp>
      <p:sp>
        <p:nvSpPr>
          <p:cNvPr id="900" name="AccentBar"/>
          <p:cNvSpPr/>
          <p:nvPr userDrawn="1"/>
        </p:nvSpPr>
        <p:spPr>
          <a:xfrm>
            <a:off x="0" y="6705600"/>
            <a:ext cx="12192000" cy="152400"/>
          </a:xfrm>
          <a:prstGeom prst="rect">
            <a:avLst/>
          </a:prstGeom>
          <a:gradFill>
            <a:gsLst>
              <a:gs pos="0">
                <a:srgbClr val="3498DB"/>
              </a:gs>
              <a:gs pos="50000">
                <a:srgbClr val="2ECC71"/>
              </a:gs>
              <a:gs pos="100000">
                <a:srgbClr val="1ABC9C"/>
              </a:gs>
            </a:gsLst>
            <a:lin ang="0" scaled="1"/>
          </a:gradFill>
          <a:ln w="0"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901" name="TopLine"/>
          <p:cNvSpPr/>
          <p:nvPr userDrawn="1"/>
        </p:nvSpPr>
        <p:spPr>
          <a:xfrm>
            <a:off x="457200" y="0"/>
            <a:ext cx="11277600" cy="36000"/>
          </a:xfrm>
          <a:prstGeom prst="rect">
            <a:avLst/>
          </a:prstGeom>
          <a:solidFill>
            <a:srgbClr val="3498DB">
              <a:alpha val="40000"/>
            </a:srgbClr>
          </a:solidFill>
          <a:ln w="0">
            <a:noFill/>
          </a:ln>
        </p:spPr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480761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F0F0F0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C8D6E5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C8D6E5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C8D6E5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C8D6E5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C8D6E5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rgbClr val="C8D6E5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rgbClr val="C8D6E5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rgbClr val="C8D6E5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rgbClr val="C8D6E5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rgbClr val="C8D6E5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FA064A4-CDAE-2AA3-6BD1-F5D54E934E3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>
              <a:buNone/>
            </a:pPr>
            <a:r>
              <a:rPr lang="fr-FR" sz="4400" b="1" dirty="0">
                <a:solidFill>
                  <a:srgbClr val="F0F0F0"/>
                </a:solidFill>
                <a:latin typeface="Montserrat"/>
              </a:rPr>
              <a:t>ShelfScan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4877E72E-4F48-293E-9A16-084F7FBFEB9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>
              <a:buNone/>
            </a:pPr>
            <a:r>
              <a:rPr lang="fr-FR" sz="2000" dirty="0">
                <a:solidFill>
                  <a:srgbClr val="C8D6E5"/>
                </a:solidFill>
                <a:latin typeface="Open Sans"/>
              </a:rPr>
              <a:t>L'inventaire visuel intelligent pour bibliothèques publiques</a:t>
            </a:r>
          </a:p>
        </p:txBody>
      </p:sp>
      <p:pic>
        <p:nvPicPr>
          <p:cNvPr id="4" name="Graphic 4" descr="Books on shelf icon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86400" y="63500"/>
            <a:ext cx="1016000" cy="101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40453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F47D6B5-FF56-F1FA-EB17-274365A3A3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buNone/>
            </a:pPr>
            <a:r>
              <a:rPr lang="fr-FR" sz="3200" b="1" dirty="0">
                <a:solidFill>
                  <a:srgbClr val="F0F0F0"/>
                </a:solidFill>
                <a:latin typeface="Montserrat"/>
              </a:rPr>
              <a:t>Sommaire</a:t>
            </a:r>
          </a:p>
        </p:txBody>
      </p:sp>
      <p:sp>
        <p:nvSpPr>
          <p:cNvPr id="100" name="Bar0"/>
          <p:cNvSpPr/>
          <p:nvPr/>
        </p:nvSpPr>
        <p:spPr>
          <a:xfrm>
            <a:off x="698500" y="1905000"/>
            <a:ext cx="2540000" cy="635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101" name="Label0"/>
          <p:cNvSpPr/>
          <p:nvPr/>
        </p:nvSpPr>
        <p:spPr>
          <a:xfrm>
            <a:off x="698500" y="2070100"/>
            <a:ext cx="2540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fr-FR" sz="1600" b="1" dirty="0">
                <a:solidFill>
                  <a:srgbClr val="3498DB"/>
                </a:solidFill>
                <a:latin typeface="Montserrat"/>
              </a:rPr>
              <a:t>Contexte</a:t>
            </a:r>
          </a:p>
        </p:txBody>
      </p:sp>
      <p:sp>
        <p:nvSpPr>
          <p:cNvPr id="102" name="Circle0_0"/>
          <p:cNvSpPr/>
          <p:nvPr/>
        </p:nvSpPr>
        <p:spPr>
          <a:xfrm>
            <a:off x="698500" y="2641600"/>
            <a:ext cx="406400" cy="406400"/>
          </a:xfrm>
          <a:prstGeom prst="ellipse">
            <a:avLst/>
          </a:prstGeom>
          <a:solidFill>
            <a:srgbClr val="3498DB">
              <a:alpha val="25000"/>
            </a:srgbClr>
          </a:solidFill>
          <a:ln w="12700">
            <a:solidFill>
              <a:srgbClr val="3498DB"/>
            </a:solidFill>
          </a:ln>
        </p:spPr>
        <p:txBody>
          <a:bodyPr wrap="none" lIns="0" tIns="0" rIns="0" bIns="0" anchor="ctr"/>
          <a:lstStyle/>
          <a:p>
            <a:pPr algn="ctr">
              <a:buNone/>
            </a:pPr>
            <a:r>
              <a:rPr lang="fr-FR" sz="1200" b="1" dirty="0">
                <a:solidFill>
                  <a:srgbClr val="3498DB"/>
                </a:solidFill>
                <a:latin typeface="Montserrat"/>
              </a:rPr>
              <a:t>01</a:t>
            </a:r>
          </a:p>
        </p:txBody>
      </p:sp>
      <p:sp>
        <p:nvSpPr>
          <p:cNvPr id="103" name="Text0_0"/>
          <p:cNvSpPr/>
          <p:nvPr/>
        </p:nvSpPr>
        <p:spPr>
          <a:xfrm>
            <a:off x="1206500" y="2514600"/>
            <a:ext cx="2032000" cy="660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fr-FR" sz="1400" dirty="0">
                <a:solidFill>
                  <a:srgbClr val="C8D6E5"/>
                </a:solidFill>
                <a:latin typeface="Open Sans"/>
              </a:rPr>
              <a:t>Problématique</a:t>
            </a:r>
          </a:p>
        </p:txBody>
      </p:sp>
      <p:sp>
        <p:nvSpPr>
          <p:cNvPr id="104" name="Circle0_1"/>
          <p:cNvSpPr/>
          <p:nvPr/>
        </p:nvSpPr>
        <p:spPr>
          <a:xfrm>
            <a:off x="698500" y="3403600"/>
            <a:ext cx="406400" cy="406400"/>
          </a:xfrm>
          <a:prstGeom prst="ellipse">
            <a:avLst/>
          </a:prstGeom>
          <a:solidFill>
            <a:srgbClr val="3498DB">
              <a:alpha val="25000"/>
            </a:srgbClr>
          </a:solidFill>
          <a:ln w="12700">
            <a:solidFill>
              <a:srgbClr val="3498DB"/>
            </a:solidFill>
          </a:ln>
        </p:spPr>
        <p:txBody>
          <a:bodyPr wrap="none" lIns="0" tIns="0" rIns="0" bIns="0" anchor="ctr"/>
          <a:lstStyle/>
          <a:p>
            <a:pPr algn="ctr">
              <a:buNone/>
            </a:pPr>
            <a:r>
              <a:rPr lang="fr-FR" sz="1200" b="1" dirty="0">
                <a:solidFill>
                  <a:srgbClr val="3498DB"/>
                </a:solidFill>
                <a:latin typeface="Montserrat"/>
              </a:rPr>
              <a:t>02</a:t>
            </a:r>
          </a:p>
        </p:txBody>
      </p:sp>
      <p:sp>
        <p:nvSpPr>
          <p:cNvPr id="105" name="Text0_1"/>
          <p:cNvSpPr/>
          <p:nvPr/>
        </p:nvSpPr>
        <p:spPr>
          <a:xfrm>
            <a:off x="1206500" y="3276600"/>
            <a:ext cx="2032000" cy="660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fr-FR" sz="1400" dirty="0">
                <a:solidFill>
                  <a:srgbClr val="C8D6E5"/>
                </a:solidFill>
                <a:latin typeface="Open Sans"/>
              </a:rPr>
              <a:t>Proposition de valeur</a:t>
            </a:r>
          </a:p>
        </p:txBody>
      </p:sp>
      <p:sp>
        <p:nvSpPr>
          <p:cNvPr id="106" name="Circle0_2"/>
          <p:cNvSpPr/>
          <p:nvPr/>
        </p:nvSpPr>
        <p:spPr>
          <a:xfrm>
            <a:off x="698500" y="4165600"/>
            <a:ext cx="406400" cy="406400"/>
          </a:xfrm>
          <a:prstGeom prst="ellipse">
            <a:avLst/>
          </a:prstGeom>
          <a:solidFill>
            <a:srgbClr val="3498DB">
              <a:alpha val="25000"/>
            </a:srgbClr>
          </a:solidFill>
          <a:ln w="12700">
            <a:solidFill>
              <a:srgbClr val="3498DB"/>
            </a:solidFill>
          </a:ln>
        </p:spPr>
        <p:txBody>
          <a:bodyPr wrap="none" lIns="0" tIns="0" rIns="0" bIns="0" anchor="ctr"/>
          <a:lstStyle/>
          <a:p>
            <a:pPr algn="ctr">
              <a:buNone/>
            </a:pPr>
            <a:r>
              <a:rPr lang="fr-FR" sz="1200" b="1" dirty="0">
                <a:solidFill>
                  <a:srgbClr val="3498DB"/>
                </a:solidFill>
                <a:latin typeface="Montserrat"/>
              </a:rPr>
              <a:t>03</a:t>
            </a:r>
          </a:p>
        </p:txBody>
      </p:sp>
      <p:sp>
        <p:nvSpPr>
          <p:cNvPr id="107" name="Text0_2"/>
          <p:cNvSpPr/>
          <p:nvPr/>
        </p:nvSpPr>
        <p:spPr>
          <a:xfrm>
            <a:off x="1206500" y="4038600"/>
            <a:ext cx="2032000" cy="660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fr-FR" sz="1400" dirty="0">
                <a:solidFill>
                  <a:srgbClr val="C8D6E5"/>
                </a:solidFill>
                <a:latin typeface="Open Sans"/>
              </a:rPr>
              <a:t>État de l'art</a:t>
            </a:r>
          </a:p>
        </p:txBody>
      </p:sp>
      <p:sp>
        <p:nvSpPr>
          <p:cNvPr id="108" name="Bar1"/>
          <p:cNvSpPr/>
          <p:nvPr/>
        </p:nvSpPr>
        <p:spPr>
          <a:xfrm>
            <a:off x="3467100" y="1905000"/>
            <a:ext cx="2540000" cy="6350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109" name="Label1"/>
          <p:cNvSpPr/>
          <p:nvPr/>
        </p:nvSpPr>
        <p:spPr>
          <a:xfrm>
            <a:off x="3467100" y="2070100"/>
            <a:ext cx="2540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fr-FR" sz="1600" b="1" dirty="0">
                <a:solidFill>
                  <a:srgbClr val="2ECC71"/>
                </a:solidFill>
                <a:latin typeface="Montserrat"/>
              </a:rPr>
              <a:t>Solution technique</a:t>
            </a:r>
          </a:p>
        </p:txBody>
      </p:sp>
      <p:sp>
        <p:nvSpPr>
          <p:cNvPr id="110" name="Circle1_0"/>
          <p:cNvSpPr/>
          <p:nvPr/>
        </p:nvSpPr>
        <p:spPr>
          <a:xfrm>
            <a:off x="3467100" y="2641600"/>
            <a:ext cx="406400" cy="406400"/>
          </a:xfrm>
          <a:prstGeom prst="ellipse">
            <a:avLst/>
          </a:prstGeom>
          <a:solidFill>
            <a:srgbClr val="2ECC71">
              <a:alpha val="25000"/>
            </a:srgbClr>
          </a:solidFill>
          <a:ln w="12700">
            <a:solidFill>
              <a:srgbClr val="2ECC71"/>
            </a:solidFill>
          </a:ln>
        </p:spPr>
        <p:txBody>
          <a:bodyPr wrap="none" lIns="0" tIns="0" rIns="0" bIns="0" anchor="ctr"/>
          <a:lstStyle/>
          <a:p>
            <a:pPr algn="ctr">
              <a:buNone/>
            </a:pPr>
            <a:r>
              <a:rPr lang="fr-FR" sz="1200" b="1" dirty="0">
                <a:solidFill>
                  <a:srgbClr val="2ECC71"/>
                </a:solidFill>
                <a:latin typeface="Montserrat"/>
              </a:rPr>
              <a:t>04</a:t>
            </a:r>
          </a:p>
        </p:txBody>
      </p:sp>
      <p:sp>
        <p:nvSpPr>
          <p:cNvPr id="111" name="Text1_0"/>
          <p:cNvSpPr/>
          <p:nvPr/>
        </p:nvSpPr>
        <p:spPr>
          <a:xfrm>
            <a:off x="3975100" y="2514600"/>
            <a:ext cx="2032000" cy="660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fr-FR" sz="1400" dirty="0">
                <a:solidFill>
                  <a:srgbClr val="C8D6E5"/>
                </a:solidFill>
                <a:latin typeface="Open Sans"/>
              </a:rPr>
              <a:t>Proof of Concept</a:t>
            </a:r>
          </a:p>
        </p:txBody>
      </p:sp>
      <p:sp>
        <p:nvSpPr>
          <p:cNvPr id="112" name="Circle1_1"/>
          <p:cNvSpPr/>
          <p:nvPr/>
        </p:nvSpPr>
        <p:spPr>
          <a:xfrm>
            <a:off x="3467100" y="3403600"/>
            <a:ext cx="406400" cy="406400"/>
          </a:xfrm>
          <a:prstGeom prst="ellipse">
            <a:avLst/>
          </a:prstGeom>
          <a:solidFill>
            <a:srgbClr val="2ECC71">
              <a:alpha val="25000"/>
            </a:srgbClr>
          </a:solidFill>
          <a:ln w="12700">
            <a:solidFill>
              <a:srgbClr val="2ECC71"/>
            </a:solidFill>
          </a:ln>
        </p:spPr>
        <p:txBody>
          <a:bodyPr wrap="none" lIns="0" tIns="0" rIns="0" bIns="0" anchor="ctr"/>
          <a:lstStyle/>
          <a:p>
            <a:pPr algn="ctr">
              <a:buNone/>
            </a:pPr>
            <a:r>
              <a:rPr lang="fr-FR" sz="1200" b="1" dirty="0">
                <a:solidFill>
                  <a:srgbClr val="2ECC71"/>
                </a:solidFill>
                <a:latin typeface="Montserrat"/>
              </a:rPr>
              <a:t>05</a:t>
            </a:r>
          </a:p>
        </p:txBody>
      </p:sp>
      <p:sp>
        <p:nvSpPr>
          <p:cNvPr id="113" name="Text1_1"/>
          <p:cNvSpPr/>
          <p:nvPr/>
        </p:nvSpPr>
        <p:spPr>
          <a:xfrm>
            <a:off x="3975100" y="3276600"/>
            <a:ext cx="2032000" cy="660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fr-FR" sz="1400" dirty="0">
                <a:solidFill>
                  <a:srgbClr val="C8D6E5"/>
                </a:solidFill>
                <a:latin typeface="Open Sans"/>
              </a:rPr>
              <a:t>Architecture du pipeline</a:t>
            </a:r>
          </a:p>
        </p:txBody>
      </p:sp>
      <p:sp>
        <p:nvSpPr>
          <p:cNvPr id="114" name="Circle1_2"/>
          <p:cNvSpPr/>
          <p:nvPr/>
        </p:nvSpPr>
        <p:spPr>
          <a:xfrm>
            <a:off x="3467100" y="4165600"/>
            <a:ext cx="406400" cy="406400"/>
          </a:xfrm>
          <a:prstGeom prst="ellipse">
            <a:avLst/>
          </a:prstGeom>
          <a:solidFill>
            <a:srgbClr val="2ECC71">
              <a:alpha val="25000"/>
            </a:srgbClr>
          </a:solidFill>
          <a:ln w="12700">
            <a:solidFill>
              <a:srgbClr val="2ECC71"/>
            </a:solidFill>
          </a:ln>
        </p:spPr>
        <p:txBody>
          <a:bodyPr wrap="none" lIns="0" tIns="0" rIns="0" bIns="0" anchor="ctr"/>
          <a:lstStyle/>
          <a:p>
            <a:pPr algn="ctr">
              <a:buNone/>
            </a:pPr>
            <a:r>
              <a:rPr lang="fr-FR" sz="1200" b="1" dirty="0">
                <a:solidFill>
                  <a:srgbClr val="2ECC71"/>
                </a:solidFill>
                <a:latin typeface="Montserrat"/>
              </a:rPr>
              <a:t>06</a:t>
            </a:r>
          </a:p>
        </p:txBody>
      </p:sp>
      <p:sp>
        <p:nvSpPr>
          <p:cNvPr id="115" name="Text1_2"/>
          <p:cNvSpPr/>
          <p:nvPr/>
        </p:nvSpPr>
        <p:spPr>
          <a:xfrm>
            <a:off x="3975100" y="4038600"/>
            <a:ext cx="2032000" cy="660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fr-FR" sz="1400" dirty="0">
                <a:solidFill>
                  <a:srgbClr val="C8D6E5"/>
                </a:solidFill>
                <a:latin typeface="Open Sans"/>
              </a:rPr>
              <a:t>Stack technique</a:t>
            </a:r>
          </a:p>
        </p:txBody>
      </p:sp>
      <p:sp>
        <p:nvSpPr>
          <p:cNvPr id="116" name="Circle1_3"/>
          <p:cNvSpPr/>
          <p:nvPr/>
        </p:nvSpPr>
        <p:spPr>
          <a:xfrm>
            <a:off x="3467100" y="4927600"/>
            <a:ext cx="406400" cy="406400"/>
          </a:xfrm>
          <a:prstGeom prst="ellipse">
            <a:avLst/>
          </a:prstGeom>
          <a:solidFill>
            <a:srgbClr val="2ECC71">
              <a:alpha val="25000"/>
            </a:srgbClr>
          </a:solidFill>
          <a:ln w="12700">
            <a:solidFill>
              <a:srgbClr val="2ECC71"/>
            </a:solidFill>
          </a:ln>
        </p:spPr>
        <p:txBody>
          <a:bodyPr wrap="none" lIns="0" tIns="0" rIns="0" bIns="0" anchor="ctr"/>
          <a:lstStyle/>
          <a:p>
            <a:pPr algn="ctr">
              <a:buNone/>
            </a:pPr>
            <a:r>
              <a:rPr lang="fr-FR" sz="1200" b="1" dirty="0">
                <a:solidFill>
                  <a:srgbClr val="2ECC71"/>
                </a:solidFill>
                <a:latin typeface="Montserrat"/>
              </a:rPr>
              <a:t>07</a:t>
            </a:r>
          </a:p>
        </p:txBody>
      </p:sp>
      <p:sp>
        <p:nvSpPr>
          <p:cNvPr id="117" name="Text1_3"/>
          <p:cNvSpPr/>
          <p:nvPr/>
        </p:nvSpPr>
        <p:spPr>
          <a:xfrm>
            <a:off x="3975100" y="4800600"/>
            <a:ext cx="2032000" cy="660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fr-FR" sz="1400" dirty="0">
                <a:solidFill>
                  <a:srgbClr val="C8D6E5"/>
                </a:solidFill>
                <a:latin typeface="Open Sans"/>
              </a:rPr>
              <a:t>Comparaison OCR</a:t>
            </a:r>
          </a:p>
        </p:txBody>
      </p:sp>
      <p:sp>
        <p:nvSpPr>
          <p:cNvPr id="118" name="Circle1_4"/>
          <p:cNvSpPr/>
          <p:nvPr/>
        </p:nvSpPr>
        <p:spPr>
          <a:xfrm>
            <a:off x="3467100" y="5689600"/>
            <a:ext cx="406400" cy="406400"/>
          </a:xfrm>
          <a:prstGeom prst="ellipse">
            <a:avLst/>
          </a:prstGeom>
          <a:solidFill>
            <a:srgbClr val="2ECC71">
              <a:alpha val="25000"/>
            </a:srgbClr>
          </a:solidFill>
          <a:ln w="12700">
            <a:solidFill>
              <a:srgbClr val="2ECC71"/>
            </a:solidFill>
          </a:ln>
        </p:spPr>
        <p:txBody>
          <a:bodyPr wrap="none" lIns="0" tIns="0" rIns="0" bIns="0" anchor="ctr"/>
          <a:lstStyle/>
          <a:p>
            <a:pPr algn="ctr">
              <a:buNone/>
            </a:pPr>
            <a:r>
              <a:rPr lang="fr-FR" sz="1200" b="1" dirty="0">
                <a:solidFill>
                  <a:srgbClr val="2ECC71"/>
                </a:solidFill>
                <a:latin typeface="Montserrat"/>
              </a:rPr>
              <a:t>08</a:t>
            </a:r>
          </a:p>
        </p:txBody>
      </p:sp>
      <p:sp>
        <p:nvSpPr>
          <p:cNvPr id="119" name="Text1_4"/>
          <p:cNvSpPr/>
          <p:nvPr/>
        </p:nvSpPr>
        <p:spPr>
          <a:xfrm>
            <a:off x="3975100" y="5562600"/>
            <a:ext cx="2032000" cy="660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fr-FR" sz="1400" dirty="0">
                <a:solidFill>
                  <a:srgbClr val="C8D6E5"/>
                </a:solidFill>
                <a:latin typeface="Open Sans"/>
              </a:rPr>
              <a:t>Post-traitement</a:t>
            </a:r>
          </a:p>
        </p:txBody>
      </p:sp>
      <p:sp>
        <p:nvSpPr>
          <p:cNvPr id="120" name="Bar2"/>
          <p:cNvSpPr/>
          <p:nvPr/>
        </p:nvSpPr>
        <p:spPr>
          <a:xfrm>
            <a:off x="6235700" y="1905000"/>
            <a:ext cx="2540000" cy="6350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121" name="Label2"/>
          <p:cNvSpPr/>
          <p:nvPr/>
        </p:nvSpPr>
        <p:spPr>
          <a:xfrm>
            <a:off x="6235700" y="2070100"/>
            <a:ext cx="2540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fr-FR" sz="1600" b="1" dirty="0">
                <a:solidFill>
                  <a:srgbClr val="F39C12"/>
                </a:solidFill>
                <a:latin typeface="Montserrat"/>
              </a:rPr>
              <a:t>Résultats</a:t>
            </a:r>
          </a:p>
        </p:txBody>
      </p:sp>
      <p:sp>
        <p:nvSpPr>
          <p:cNvPr id="122" name="Circle2_0"/>
          <p:cNvSpPr/>
          <p:nvPr/>
        </p:nvSpPr>
        <p:spPr>
          <a:xfrm>
            <a:off x="6235700" y="2641600"/>
            <a:ext cx="406400" cy="406400"/>
          </a:xfrm>
          <a:prstGeom prst="ellipse">
            <a:avLst/>
          </a:prstGeom>
          <a:solidFill>
            <a:srgbClr val="F39C12">
              <a:alpha val="25000"/>
            </a:srgbClr>
          </a:solidFill>
          <a:ln w="12700">
            <a:solidFill>
              <a:srgbClr val="F39C12"/>
            </a:solidFill>
          </a:ln>
        </p:spPr>
        <p:txBody>
          <a:bodyPr wrap="none" lIns="0" tIns="0" rIns="0" bIns="0" anchor="ctr"/>
          <a:lstStyle/>
          <a:p>
            <a:pPr algn="ctr">
              <a:buNone/>
            </a:pPr>
            <a:r>
              <a:rPr lang="fr-FR" sz="1200" b="1" dirty="0">
                <a:solidFill>
                  <a:srgbClr val="F39C12"/>
                </a:solidFill>
                <a:latin typeface="Montserrat"/>
              </a:rPr>
              <a:t>09</a:t>
            </a:r>
          </a:p>
        </p:txBody>
      </p:sp>
      <p:sp>
        <p:nvSpPr>
          <p:cNvPr id="123" name="Text2_0"/>
          <p:cNvSpPr/>
          <p:nvPr/>
        </p:nvSpPr>
        <p:spPr>
          <a:xfrm>
            <a:off x="6743700" y="2514600"/>
            <a:ext cx="2032000" cy="660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fr-FR" sz="1400" dirty="0">
                <a:solidFill>
                  <a:srgbClr val="C8D6E5"/>
                </a:solidFill>
                <a:latin typeface="Open Sans"/>
              </a:rPr>
              <a:t>Démo Streamlit</a:t>
            </a:r>
          </a:p>
        </p:txBody>
      </p:sp>
      <p:sp>
        <p:nvSpPr>
          <p:cNvPr id="124" name="Circle2_1"/>
          <p:cNvSpPr/>
          <p:nvPr/>
        </p:nvSpPr>
        <p:spPr>
          <a:xfrm>
            <a:off x="6235700" y="3403600"/>
            <a:ext cx="406400" cy="406400"/>
          </a:xfrm>
          <a:prstGeom prst="ellipse">
            <a:avLst/>
          </a:prstGeom>
          <a:solidFill>
            <a:srgbClr val="F39C12">
              <a:alpha val="25000"/>
            </a:srgbClr>
          </a:solidFill>
          <a:ln w="12700">
            <a:solidFill>
              <a:srgbClr val="F39C12"/>
            </a:solidFill>
          </a:ln>
        </p:spPr>
        <p:txBody>
          <a:bodyPr wrap="none" lIns="0" tIns="0" rIns="0" bIns="0" anchor="ctr"/>
          <a:lstStyle/>
          <a:p>
            <a:pPr algn="ctr">
              <a:buNone/>
            </a:pPr>
            <a:r>
              <a:rPr lang="fr-FR" sz="1200" b="1" dirty="0">
                <a:solidFill>
                  <a:srgbClr val="F39C12"/>
                </a:solidFill>
                <a:latin typeface="Montserrat"/>
              </a:rPr>
              <a:t>10</a:t>
            </a:r>
          </a:p>
        </p:txBody>
      </p:sp>
      <p:sp>
        <p:nvSpPr>
          <p:cNvPr id="125" name="Text2_1"/>
          <p:cNvSpPr/>
          <p:nvPr/>
        </p:nvSpPr>
        <p:spPr>
          <a:xfrm>
            <a:off x="6743700" y="3276600"/>
            <a:ext cx="2032000" cy="660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fr-FR" sz="1400" dirty="0">
                <a:solidFill>
                  <a:srgbClr val="C8D6E5"/>
                </a:solidFill>
                <a:latin typeface="Open Sans"/>
              </a:rPr>
              <a:t>Risques et mitigations</a:t>
            </a:r>
          </a:p>
        </p:txBody>
      </p:sp>
      <p:sp>
        <p:nvSpPr>
          <p:cNvPr id="126" name="Bar3"/>
          <p:cNvSpPr/>
          <p:nvPr/>
        </p:nvSpPr>
        <p:spPr>
          <a:xfrm>
            <a:off x="9004300" y="1905000"/>
            <a:ext cx="2540000" cy="6350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127" name="Label3"/>
          <p:cNvSpPr/>
          <p:nvPr/>
        </p:nvSpPr>
        <p:spPr>
          <a:xfrm>
            <a:off x="9004300" y="2070100"/>
            <a:ext cx="2540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fr-FR" sz="1600" b="1" dirty="0">
                <a:solidFill>
                  <a:srgbClr val="9B59B6"/>
                </a:solidFill>
                <a:latin typeface="Montserrat"/>
              </a:rPr>
              <a:t>Perspectives</a:t>
            </a:r>
          </a:p>
        </p:txBody>
      </p:sp>
      <p:sp>
        <p:nvSpPr>
          <p:cNvPr id="128" name="Circle3_0"/>
          <p:cNvSpPr/>
          <p:nvPr/>
        </p:nvSpPr>
        <p:spPr>
          <a:xfrm>
            <a:off x="9004300" y="2641600"/>
            <a:ext cx="406400" cy="406400"/>
          </a:xfrm>
          <a:prstGeom prst="ellipse">
            <a:avLst/>
          </a:prstGeom>
          <a:solidFill>
            <a:srgbClr val="9B59B6">
              <a:alpha val="25000"/>
            </a:srgbClr>
          </a:solidFill>
          <a:ln w="12700">
            <a:solidFill>
              <a:srgbClr val="9B59B6"/>
            </a:solidFill>
          </a:ln>
        </p:spPr>
        <p:txBody>
          <a:bodyPr wrap="none" lIns="0" tIns="0" rIns="0" bIns="0" anchor="ctr"/>
          <a:lstStyle/>
          <a:p>
            <a:pPr algn="ctr">
              <a:buNone/>
            </a:pPr>
            <a:r>
              <a:rPr lang="fr-FR" sz="1200" b="1" dirty="0">
                <a:solidFill>
                  <a:srgbClr val="9B59B6"/>
                </a:solidFill>
                <a:latin typeface="Montserrat"/>
              </a:rPr>
              <a:t>11</a:t>
            </a:r>
          </a:p>
        </p:txBody>
      </p:sp>
      <p:sp>
        <p:nvSpPr>
          <p:cNvPr id="129" name="Text3_0"/>
          <p:cNvSpPr/>
          <p:nvPr/>
        </p:nvSpPr>
        <p:spPr>
          <a:xfrm>
            <a:off x="9512300" y="2514600"/>
            <a:ext cx="2032000" cy="660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fr-FR" sz="1400" dirty="0">
                <a:solidFill>
                  <a:srgbClr val="C8D6E5"/>
                </a:solidFill>
                <a:latin typeface="Open Sans"/>
              </a:rPr>
              <a:t>Limites actuelles</a:t>
            </a:r>
          </a:p>
        </p:txBody>
      </p:sp>
      <p:sp>
        <p:nvSpPr>
          <p:cNvPr id="130" name="Circle3_1"/>
          <p:cNvSpPr/>
          <p:nvPr/>
        </p:nvSpPr>
        <p:spPr>
          <a:xfrm>
            <a:off x="9004300" y="3403600"/>
            <a:ext cx="406400" cy="406400"/>
          </a:xfrm>
          <a:prstGeom prst="ellipse">
            <a:avLst/>
          </a:prstGeom>
          <a:solidFill>
            <a:srgbClr val="9B59B6">
              <a:alpha val="25000"/>
            </a:srgbClr>
          </a:solidFill>
          <a:ln w="12700">
            <a:solidFill>
              <a:srgbClr val="9B59B6"/>
            </a:solidFill>
          </a:ln>
        </p:spPr>
        <p:txBody>
          <a:bodyPr wrap="none" lIns="0" tIns="0" rIns="0" bIns="0" anchor="ctr"/>
          <a:lstStyle/>
          <a:p>
            <a:pPr algn="ctr">
              <a:buNone/>
            </a:pPr>
            <a:r>
              <a:rPr lang="fr-FR" sz="1200" b="1" dirty="0">
                <a:solidFill>
                  <a:srgbClr val="9B59B6"/>
                </a:solidFill>
                <a:latin typeface="Montserrat"/>
              </a:rPr>
              <a:t>12</a:t>
            </a:r>
          </a:p>
        </p:txBody>
      </p:sp>
      <p:sp>
        <p:nvSpPr>
          <p:cNvPr id="131" name="Text3_1"/>
          <p:cNvSpPr/>
          <p:nvPr/>
        </p:nvSpPr>
        <p:spPr>
          <a:xfrm>
            <a:off x="9512300" y="3276600"/>
            <a:ext cx="2032000" cy="660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fr-FR" sz="1400" dirty="0">
                <a:solidFill>
                  <a:srgbClr val="C8D6E5"/>
                </a:solidFill>
                <a:latin typeface="Open Sans"/>
              </a:rPr>
              <a:t>Prochaines étapes</a:t>
            </a:r>
          </a:p>
        </p:txBody>
      </p:sp>
    </p:spTree>
    <p:extLst>
      <p:ext uri="{BB962C8B-B14F-4D97-AF65-F5344CB8AC3E}">
        <p14:creationId xmlns:p14="http://schemas.microsoft.com/office/powerpoint/2010/main" val="23328933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EBD586B-AB5F-B423-22C2-1242EE597A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fr-FR" sz="3200" b="1" dirty="0">
                <a:solidFill>
                  <a:srgbClr val="F0F0F0"/>
                </a:solidFill>
                <a:latin typeface="Montserrat"/>
              </a:rPr>
              <a:t>Un livre mal rangé est un livre perdu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EC7E00E-EB41-A836-80AC-3F88C0657D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indent="-228600">
              <a:spcBef>
                <a:spcPts val="600"/>
              </a:spcBef>
              <a:buFont typeface="Arial"/>
              <a:buChar char="•"/>
            </a:pPr>
            <a:r>
              <a:rPr lang="fr-FR" sz="1800" dirty="0">
                <a:solidFill>
                  <a:srgbClr val="C8D6E5"/>
                </a:solidFill>
                <a:latin typeface="Open Sans"/>
              </a:rPr>
              <a:t>Des milliers de livres mal rangés chaque jour dans les bibliothèques publiques</a:t>
            </a:r>
          </a:p>
          <a:p>
            <a:pPr marL="342900" indent="-228600">
              <a:spcBef>
                <a:spcPts val="600"/>
              </a:spcBef>
              <a:buFont typeface="Arial"/>
              <a:buChar char="•"/>
            </a:pPr>
            <a:r>
              <a:rPr lang="fr-FR" sz="1800" dirty="0">
                <a:solidFill>
                  <a:srgbClr val="C8D6E5"/>
                </a:solidFill>
                <a:latin typeface="Open Sans"/>
              </a:rPr>
              <a:t>Inventaire manuel : fastidieux et chronophage</a:t>
            </a:r>
          </a:p>
          <a:p>
            <a:pPr marL="342900" indent="-228600">
              <a:spcBef>
                <a:spcPts val="600"/>
              </a:spcBef>
              <a:buFont typeface="Arial"/>
              <a:buChar char="•"/>
            </a:pPr>
            <a:r>
              <a:rPr lang="fr-FR" sz="1800" dirty="0">
                <a:solidFill>
                  <a:srgbClr val="C8D6E5"/>
                </a:solidFill>
                <a:latin typeface="Open Sans"/>
              </a:rPr>
              <a:t>Coût humain considérable pour les bibliothécaires</a:t>
            </a:r>
          </a:p>
          <a:p>
            <a:pPr marL="342900" indent="-228600">
              <a:spcBef>
                <a:spcPts val="600"/>
              </a:spcBef>
              <a:buFont typeface="Arial"/>
              <a:buChar char="•"/>
            </a:pPr>
            <a:r>
              <a:rPr lang="fr-FR" sz="1800" dirty="0">
                <a:solidFill>
                  <a:srgbClr val="C8D6E5"/>
                </a:solidFill>
                <a:latin typeface="Open Sans"/>
              </a:rPr>
              <a:t>Usagers frustrés qui ne trouvent pas leurs ouvrages</a:t>
            </a:r>
          </a:p>
        </p:txBody>
      </p:sp>
      <p:pic>
        <p:nvPicPr>
          <p:cNvPr id="4" name="Graphic 4" descr="Book icon for problem slide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30000" y="6350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00616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C9FAFBA-F6DF-AC2A-FBEB-0EB00EE6EE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fr-FR" sz="2800" b="1" dirty="0">
                <a:solidFill>
                  <a:srgbClr val="F0F0F0"/>
                </a:solidFill>
                <a:latin typeface="Montserrat"/>
              </a:rPr>
              <a:t>ShelfScan : la Computer Vision au service des bibliothèques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99D30C9-E778-398F-0B1F-C1B453433A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indent="-228600">
              <a:spcBef>
                <a:spcPts val="600"/>
              </a:spcBef>
              <a:buFont typeface="Arial"/>
              <a:buChar char="•"/>
            </a:pPr>
            <a:r>
              <a:rPr lang="fr-FR" sz="1800" dirty="0">
                <a:solidFill>
                  <a:srgbClr val="C8D6E5"/>
                </a:solidFill>
                <a:latin typeface="Open Sans"/>
              </a:rPr>
              <a:t>Filmer les étagères avec un smartphone</a:t>
            </a:r>
          </a:p>
          <a:p>
            <a:pPr marL="342900" indent="-228600">
              <a:spcBef>
                <a:spcPts val="600"/>
              </a:spcBef>
              <a:buFont typeface="Arial"/>
              <a:buChar char="•"/>
            </a:pPr>
            <a:r>
              <a:rPr lang="fr-FR" sz="1800" dirty="0">
                <a:solidFill>
                  <a:srgbClr val="C8D6E5"/>
                </a:solidFill>
                <a:latin typeface="Open Sans"/>
              </a:rPr>
              <a:t>La reconnaissance visuelle identifie chaque livre</a:t>
            </a:r>
          </a:p>
          <a:p>
            <a:pPr marL="342900" indent="-228600">
              <a:spcBef>
                <a:spcPts val="600"/>
              </a:spcBef>
              <a:buFont typeface="Arial"/>
              <a:buChar char="•"/>
            </a:pPr>
            <a:r>
              <a:rPr lang="fr-FR" sz="1800" dirty="0">
                <a:solidFill>
                  <a:srgbClr val="C8D6E5"/>
                </a:solidFill>
                <a:latin typeface="Open Sans"/>
              </a:rPr>
              <a:t>Détection automatique des livres mal rangés</a:t>
            </a:r>
          </a:p>
          <a:p>
            <a:pPr marL="342900" indent="-228600">
              <a:spcBef>
                <a:spcPts val="600"/>
              </a:spcBef>
              <a:buFont typeface="Arial"/>
              <a:buChar char="•"/>
            </a:pPr>
            <a:r>
              <a:rPr lang="fr-FR" sz="1800" dirty="0">
                <a:solidFill>
                  <a:srgbClr val="C8D6E5"/>
                </a:solidFill>
                <a:latin typeface="Open Sans"/>
              </a:rPr>
              <a:t>Gain de temps massif pour le personnel</a:t>
            </a:r>
          </a:p>
        </p:txBody>
      </p:sp>
      <p:pic>
        <p:nvPicPr>
          <p:cNvPr id="4" name="Graphic 4" descr="Camera icon for solution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30000" y="6350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05387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7A6097C-133E-ACF5-4CCC-DAEF570392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buNone/>
            </a:pPr>
            <a:r>
              <a:rPr lang="fr-FR" sz="3200" b="1" dirty="0">
                <a:solidFill>
                  <a:srgbClr val="F0F0F0"/>
                </a:solidFill>
                <a:latin typeface="Montserrat"/>
              </a:rPr>
              <a:t>État de l'art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3B3672C-33A3-8FBE-A458-B3E9C20EE9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514022"/>
          </a:xfrm>
        </p:spPr>
        <p:txBody>
          <a:bodyPr>
            <a:spAutoFit/>
          </a:bodyPr>
          <a:lstStyle/>
          <a:p>
            <a:pPr>
              <a:buNone/>
            </a:pPr>
            <a:r>
              <a:rPr lang="fr-FR" sz="1800" b="1" dirty="0">
                <a:solidFill>
                  <a:srgbClr val="3498DB"/>
                </a:solidFill>
                <a:latin typeface="Open Sans"/>
              </a:rPr>
              <a:t>Scene Text Recognition (STR)</a:t>
            </a:r>
          </a:p>
          <a:p>
            <a:pPr marL="342900" indent="-228600">
              <a:spcBef>
                <a:spcPts val="300"/>
              </a:spcBef>
              <a:buFont typeface="Arial"/>
              <a:buChar char="•"/>
            </a:pPr>
            <a:r>
              <a:rPr lang="fr-FR" sz="1600" b="1" dirty="0">
                <a:solidFill>
                  <a:srgbClr val="C8D6E5"/>
                </a:solidFill>
                <a:latin typeface="Open Sans"/>
              </a:rPr>
              <a:t>Détection : </a:t>
            </a:r>
            <a:r>
              <a:rPr lang="fr-FR" sz="1600" dirty="0">
                <a:solidFill>
                  <a:srgbClr val="C8D6E5"/>
                </a:solidFill>
                <a:latin typeface="Open Sans"/>
              </a:rPr>
              <a:t>EAST, PaddleOCR (DB-Net)</a:t>
            </a:r>
          </a:p>
          <a:p>
            <a:pPr marL="342900" indent="-228600">
              <a:spcBef>
                <a:spcPts val="300"/>
              </a:spcBef>
              <a:buFont typeface="Arial"/>
              <a:buChar char="•"/>
            </a:pPr>
            <a:r>
              <a:rPr lang="fr-FR" sz="1600" b="1" dirty="0">
                <a:solidFill>
                  <a:srgbClr val="C8D6E5"/>
                </a:solidFill>
                <a:latin typeface="Open Sans"/>
              </a:rPr>
              <a:t>Reconnaissance : </a:t>
            </a:r>
            <a:r>
              <a:rPr lang="fr-FR" sz="1600" dirty="0">
                <a:solidFill>
                  <a:srgbClr val="C8D6E5"/>
                </a:solidFill>
                <a:latin typeface="Open Sans"/>
              </a:rPr>
              <a:t>CRNN, TrOCR (Transformer), PaddleOCR (SVTR)</a:t>
            </a:r>
          </a:p>
          <a:p>
            <a:pPr marL="342900" indent="-228600">
              <a:spcBef>
                <a:spcPts val="300"/>
              </a:spcBef>
              <a:buFont typeface="Arial"/>
              <a:buChar char="•"/>
            </a:pPr>
            <a:r>
              <a:rPr lang="fr-FR" sz="1600" b="1" dirty="0">
                <a:solidFill>
                  <a:srgbClr val="C8D6E5"/>
                </a:solidFill>
                <a:latin typeface="Open Sans"/>
              </a:rPr>
              <a:t>Bout en bout : </a:t>
            </a:r>
            <a:r>
              <a:rPr lang="fr-FR" sz="1600" dirty="0">
                <a:solidFill>
                  <a:srgbClr val="C8D6E5"/>
                </a:solidFill>
                <a:latin typeface="Open Sans"/>
              </a:rPr>
              <a:t>PaddleOCR, EasyOCR, Google Vision API</a:t>
            </a:r>
          </a:p>
          <a:p>
            <a:pPr>
              <a:spcBef>
                <a:spcPts val="800"/>
              </a:spcBef>
              <a:buNone/>
            </a:pPr>
            <a:r>
              <a:rPr lang="fr-FR" sz="1800" b="1" dirty="0">
                <a:solidFill>
                  <a:srgbClr val="2ECC71"/>
                </a:solidFill>
                <a:latin typeface="Open Sans"/>
              </a:rPr>
              <a:t>Méthodes du cours appliquées</a:t>
            </a:r>
          </a:p>
          <a:p>
            <a:pPr marL="342900" indent="-228600">
              <a:spcBef>
                <a:spcPts val="300"/>
              </a:spcBef>
              <a:buFont typeface="Arial"/>
              <a:buChar char="•"/>
            </a:pPr>
            <a:r>
              <a:rPr lang="fr-FR" sz="1600" dirty="0">
                <a:solidFill>
                  <a:srgbClr val="C8D6E5"/>
                </a:solidFill>
                <a:latin typeface="Open Sans"/>
              </a:rPr>
              <a:t>Amélioration de contraste (CLAHE)</a:t>
            </a:r>
          </a:p>
          <a:p>
            <a:pPr marL="342900" indent="-228600">
              <a:spcBef>
                <a:spcPts val="300"/>
              </a:spcBef>
              <a:buFont typeface="Arial"/>
              <a:buChar char="•"/>
            </a:pPr>
            <a:r>
              <a:rPr lang="fr-FR" sz="1600" dirty="0">
                <a:solidFill>
                  <a:srgbClr val="C8D6E5"/>
                </a:solidFill>
                <a:latin typeface="Open Sans"/>
              </a:rPr>
              <a:t>Détection de contours (Canny + transformée de Hough)</a:t>
            </a:r>
          </a:p>
          <a:p>
            <a:pPr marL="342900" indent="-228600">
              <a:spcBef>
                <a:spcPts val="300"/>
              </a:spcBef>
              <a:buFont typeface="Arial"/>
              <a:buChar char="•"/>
            </a:pPr>
            <a:r>
              <a:rPr lang="fr-FR" sz="1600" dirty="0">
                <a:solidFill>
                  <a:srgbClr val="C8D6E5"/>
                </a:solidFill>
                <a:latin typeface="Open Sans"/>
              </a:rPr>
              <a:t>Segmentation par analyse de lignes verticales</a:t>
            </a:r>
          </a:p>
          <a:p>
            <a:pPr marL="342900" indent="-228600">
              <a:spcBef>
                <a:spcPts val="300"/>
              </a:spcBef>
              <a:buFont typeface="Arial"/>
              <a:buChar char="•"/>
            </a:pPr>
            <a:r>
              <a:rPr lang="fr-FR" sz="1600" dirty="0">
                <a:solidFill>
                  <a:srgbClr val="C8D6E5"/>
                </a:solidFill>
                <a:latin typeface="Open Sans"/>
              </a:rPr>
              <a:t>Correction d'orientation (perspective implémentée, non activée)</a:t>
            </a:r>
          </a:p>
        </p:txBody>
      </p:sp>
    </p:spTree>
    <p:extLst>
      <p:ext uri="{BB962C8B-B14F-4D97-AF65-F5344CB8AC3E}">
        <p14:creationId xmlns:p14="http://schemas.microsoft.com/office/powerpoint/2010/main" val="35612406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894B7C6-5711-49F2-6D8E-BE82E9F80F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fr-FR" sz="2800" b="1" dirty="0">
                <a:solidFill>
                  <a:srgbClr val="F0F0F0"/>
                </a:solidFill>
                <a:latin typeface="Montserrat"/>
              </a:rPr>
              <a:t>Proof of Concept : de la photo à l'inventaire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4F52BE2-E88E-229B-9EF9-B8265E1F50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320361"/>
          </a:xfrm>
        </p:spPr>
        <p:txBody>
          <a:bodyPr>
            <a:spAutoFit/>
          </a:bodyPr>
          <a:lstStyle/>
          <a:p>
            <a:pPr marL="342900" indent="-228600">
              <a:spcBef>
                <a:spcPts val="600"/>
              </a:spcBef>
              <a:buFont typeface="Arial"/>
              <a:buChar char="•"/>
            </a:pPr>
            <a:r>
              <a:rPr lang="fr-FR" sz="1800" b="1" dirty="0">
                <a:solidFill>
                  <a:srgbClr val="3498DB"/>
                </a:solidFill>
                <a:latin typeface="Open Sans"/>
              </a:rPr>
              <a:t>Entrée : </a:t>
            </a:r>
            <a:r>
              <a:rPr lang="fr-FR" sz="1800" dirty="0">
                <a:solidFill>
                  <a:srgbClr val="C8D6E5"/>
                </a:solidFill>
                <a:latin typeface="Open Sans"/>
              </a:rPr>
              <a:t>une photo d'étagère de bibliothèque (JPEG/PNG)</a:t>
            </a:r>
          </a:p>
          <a:p>
            <a:pPr marL="342900" indent="-228600">
              <a:spcBef>
                <a:spcPts val="600"/>
              </a:spcBef>
              <a:buFont typeface="Arial"/>
              <a:buChar char="•"/>
            </a:pPr>
            <a:r>
              <a:rPr lang="fr-FR" sz="1800" b="1" dirty="0">
                <a:solidFill>
                  <a:srgbClr val="2ECC71"/>
                </a:solidFill>
                <a:latin typeface="Open Sans"/>
              </a:rPr>
              <a:t>Sortie : </a:t>
            </a:r>
            <a:r>
              <a:rPr lang="fr-FR" sz="1800" dirty="0">
                <a:solidFill>
                  <a:srgbClr val="C8D6E5"/>
                </a:solidFill>
                <a:latin typeface="Open Sans"/>
              </a:rPr>
              <a:t>liste structurée (titre, auteur, ISBN)</a:t>
            </a:r>
          </a:p>
          <a:p>
            <a:pPr marL="342900" indent="-228600">
              <a:spcBef>
                <a:spcPts val="600"/>
              </a:spcBef>
              <a:buFont typeface="Arial"/>
              <a:buChar char="•"/>
            </a:pPr>
            <a:r>
              <a:rPr lang="fr-FR" sz="1800" b="1" dirty="0">
                <a:solidFill>
                  <a:srgbClr val="F39C12"/>
                </a:solidFill>
                <a:latin typeface="Open Sans"/>
              </a:rPr>
              <a:t>Format : </a:t>
            </a:r>
            <a:r>
              <a:rPr lang="fr-FR" sz="1800" dirty="0">
                <a:solidFill>
                  <a:srgbClr val="C8D6E5"/>
                </a:solidFill>
                <a:latin typeface="Open Sans"/>
              </a:rPr>
              <a:t>export CSV (JSON via CLI)</a:t>
            </a:r>
          </a:p>
          <a:p>
            <a:pPr marL="342900" indent="-228600">
              <a:spcBef>
                <a:spcPts val="600"/>
              </a:spcBef>
              <a:buFont typeface="Arial"/>
              <a:buChar char="•"/>
            </a:pPr>
            <a:r>
              <a:rPr lang="fr-FR" sz="1800" b="1" dirty="0">
                <a:solidFill>
                  <a:srgbClr val="9B59B6"/>
                </a:solidFill>
                <a:latin typeface="Open Sans"/>
              </a:rPr>
              <a:t>Enrichissement : </a:t>
            </a:r>
            <a:r>
              <a:rPr lang="fr-FR" sz="1800" dirty="0">
                <a:solidFill>
                  <a:srgbClr val="C8D6E5"/>
                </a:solidFill>
                <a:latin typeface="Open Sans"/>
              </a:rPr>
              <a:t>API Google Books / Open Library</a:t>
            </a:r>
          </a:p>
        </p:txBody>
      </p:sp>
    </p:spTree>
    <p:extLst>
      <p:ext uri="{BB962C8B-B14F-4D97-AF65-F5344CB8AC3E}">
        <p14:creationId xmlns:p14="http://schemas.microsoft.com/office/powerpoint/2010/main" val="9004740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8751620-99E5-12FF-5E0B-90E20A74A1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fr-FR" sz="3200" b="1" dirty="0">
                <a:solidFill>
                  <a:srgbClr val="F0F0F0"/>
                </a:solidFill>
                <a:latin typeface="Montserrat"/>
              </a:rPr>
              <a:t>Architecture du pipeline</a:t>
            </a:r>
          </a:p>
        </p:txBody>
      </p:sp>
      <p:sp>
        <p:nvSpPr>
          <p:cNvPr id="200" name="Step1"/>
          <p:cNvSpPr/>
          <p:nvPr/>
        </p:nvSpPr>
        <p:spPr>
          <a:xfrm>
            <a:off x="700000" y="1700000"/>
            <a:ext cx="2600000" cy="1200000"/>
          </a:xfrm>
          <a:prstGeom prst="roundRect">
            <a:avLst>
              <a:gd name="adj" fmla="val 10000"/>
            </a:avLst>
          </a:prstGeom>
          <a:solidFill>
            <a:srgbClr val="3498DB">
              <a:alpha val="20000"/>
            </a:srgbClr>
          </a:solidFill>
          <a:ln w="25400">
            <a:solidFill>
              <a:srgbClr val="3498DB"/>
            </a:solidFill>
          </a:ln>
        </p:spPr>
        <p:txBody>
          <a:bodyPr lIns="91440" tIns="45720" rIns="91440" bIns="45720" anchor="ctr" anchorCtr="0"/>
          <a:lstStyle/>
          <a:p>
            <a:pPr algn="ctr">
              <a:buNone/>
            </a:pPr>
            <a:r>
              <a:rPr lang="fr-FR" sz="1600" b="1" dirty="0">
                <a:solidFill>
                  <a:srgbClr val="3498DB"/>
                </a:solidFill>
              </a:rPr>
              <a:t>1. Acquisition</a:t>
            </a:r>
          </a:p>
          <a:p>
            <a:pPr algn="ctr">
              <a:buNone/>
            </a:pPr>
            <a:r>
              <a:rPr lang="fr-FR" sz="1400" dirty="0">
                <a:solidFill>
                  <a:srgbClr val="C8D6E5"/>
                </a:solidFill>
              </a:rPr>
              <a:t>Photo</a:t>
            </a:r>
          </a:p>
        </p:txBody>
      </p:sp>
      <p:sp>
        <p:nvSpPr>
          <p:cNvPr id="201" name="Step2"/>
          <p:cNvSpPr/>
          <p:nvPr/>
        </p:nvSpPr>
        <p:spPr>
          <a:xfrm>
            <a:off x="3700000" y="1700000"/>
            <a:ext cx="2600000" cy="1200000"/>
          </a:xfrm>
          <a:prstGeom prst="roundRect">
            <a:avLst>
              <a:gd name="adj" fmla="val 10000"/>
            </a:avLst>
          </a:prstGeom>
          <a:solidFill>
            <a:srgbClr val="2ECC71">
              <a:alpha val="20000"/>
            </a:srgbClr>
          </a:solidFill>
          <a:ln w="25400">
            <a:solidFill>
              <a:srgbClr val="2ECC71"/>
            </a:solidFill>
          </a:ln>
        </p:spPr>
        <p:txBody>
          <a:bodyPr lIns="91440" tIns="45720" rIns="91440" bIns="45720" anchor="ctr" anchorCtr="0"/>
          <a:lstStyle/>
          <a:p>
            <a:pPr algn="ctr">
              <a:buNone/>
            </a:pPr>
            <a:r>
              <a:rPr lang="fr-FR" sz="1600" b="1" dirty="0">
                <a:solidFill>
                  <a:srgbClr val="2ECC71"/>
                </a:solidFill>
              </a:rPr>
              <a:t>2. Prétraitement</a:t>
            </a:r>
          </a:p>
          <a:p>
            <a:pPr algn="ctr">
              <a:buNone/>
            </a:pPr>
            <a:r>
              <a:rPr lang="fr-FR" sz="1400" dirty="0">
                <a:solidFill>
                  <a:srgbClr val="C8D6E5"/>
                </a:solidFill>
              </a:rPr>
              <a:t>Contraste (CLAHE)</a:t>
            </a:r>
          </a:p>
        </p:txBody>
      </p:sp>
      <p:sp>
        <p:nvSpPr>
          <p:cNvPr id="202" name="Step3"/>
          <p:cNvSpPr/>
          <p:nvPr/>
        </p:nvSpPr>
        <p:spPr>
          <a:xfrm>
            <a:off x="6700000" y="1700000"/>
            <a:ext cx="2600000" cy="1200000"/>
          </a:xfrm>
          <a:prstGeom prst="roundRect">
            <a:avLst>
              <a:gd name="adj" fmla="val 10000"/>
            </a:avLst>
          </a:prstGeom>
          <a:solidFill>
            <a:srgbClr val="1ABC9C">
              <a:alpha val="20000"/>
            </a:srgbClr>
          </a:solidFill>
          <a:ln w="25400">
            <a:solidFill>
              <a:srgbClr val="1ABC9C"/>
            </a:solidFill>
          </a:ln>
        </p:spPr>
        <p:txBody>
          <a:bodyPr lIns="91440" tIns="45720" rIns="91440" bIns="45720" anchor="ctr" anchorCtr="0"/>
          <a:lstStyle/>
          <a:p>
            <a:pPr algn="ctr">
              <a:buNone/>
            </a:pPr>
            <a:r>
              <a:rPr lang="fr-FR" sz="1600" b="1" dirty="0">
                <a:solidFill>
                  <a:srgbClr val="1ABC9C"/>
                </a:solidFill>
              </a:rPr>
              <a:t>3. Segmentation</a:t>
            </a:r>
          </a:p>
          <a:p>
            <a:pPr algn="ctr">
              <a:buNone/>
            </a:pPr>
            <a:r>
              <a:rPr lang="fr-FR" sz="1400" dirty="0">
                <a:solidFill>
                  <a:srgbClr val="C8D6E5"/>
                </a:solidFill>
              </a:rPr>
              <a:t>Tranches de livres</a:t>
            </a:r>
          </a:p>
        </p:txBody>
      </p:sp>
      <p:sp>
        <p:nvSpPr>
          <p:cNvPr id="203" name="Step4"/>
          <p:cNvSpPr/>
          <p:nvPr/>
        </p:nvSpPr>
        <p:spPr>
          <a:xfrm>
            <a:off x="6700000" y="3600000"/>
            <a:ext cx="2600000" cy="1200000"/>
          </a:xfrm>
          <a:prstGeom prst="roundRect">
            <a:avLst>
              <a:gd name="adj" fmla="val 10000"/>
            </a:avLst>
          </a:prstGeom>
          <a:solidFill>
            <a:srgbClr val="F39C12">
              <a:alpha val="20000"/>
            </a:srgbClr>
          </a:solidFill>
          <a:ln w="25400">
            <a:solidFill>
              <a:srgbClr val="F39C12"/>
            </a:solidFill>
          </a:ln>
        </p:spPr>
        <p:txBody>
          <a:bodyPr lIns="91440" tIns="45720" rIns="91440" bIns="45720" anchor="ctr" anchorCtr="0"/>
          <a:lstStyle/>
          <a:p>
            <a:pPr algn="ctr">
              <a:buNone/>
            </a:pPr>
            <a:r>
              <a:rPr lang="fr-FR" sz="1600" b="1" dirty="0">
                <a:solidFill>
                  <a:srgbClr val="F39C12"/>
                </a:solidFill>
              </a:rPr>
              <a:t>4. Détection texte</a:t>
            </a:r>
          </a:p>
          <a:p>
            <a:pPr algn="ctr">
              <a:buNone/>
            </a:pPr>
            <a:r>
              <a:rPr lang="fr-FR" sz="1400" dirty="0">
                <a:solidFill>
                  <a:srgbClr val="C8D6E5"/>
                </a:solidFill>
              </a:rPr>
              <a:t>Zones ROI</a:t>
            </a:r>
          </a:p>
        </p:txBody>
      </p:sp>
      <p:sp>
        <p:nvSpPr>
          <p:cNvPr id="204" name="Step5"/>
          <p:cNvSpPr/>
          <p:nvPr/>
        </p:nvSpPr>
        <p:spPr>
          <a:xfrm>
            <a:off x="3700000" y="3600000"/>
            <a:ext cx="2600000" cy="1200000"/>
          </a:xfrm>
          <a:prstGeom prst="roundRect">
            <a:avLst>
              <a:gd name="adj" fmla="val 10000"/>
            </a:avLst>
          </a:prstGeom>
          <a:solidFill>
            <a:srgbClr val="E74C3C">
              <a:alpha val="20000"/>
            </a:srgbClr>
          </a:solidFill>
          <a:ln w="25400">
            <a:solidFill>
              <a:srgbClr val="E74C3C"/>
            </a:solidFill>
          </a:ln>
        </p:spPr>
        <p:txBody>
          <a:bodyPr lIns="91440" tIns="45720" rIns="91440" bIns="45720" anchor="ctr" anchorCtr="0"/>
          <a:lstStyle/>
          <a:p>
            <a:pPr algn="ctr">
              <a:buNone/>
            </a:pPr>
            <a:r>
              <a:rPr lang="fr-FR" sz="1600" b="1" dirty="0">
                <a:solidFill>
                  <a:srgbClr val="E74C3C"/>
                </a:solidFill>
              </a:rPr>
              <a:t>5. OCR</a:t>
            </a:r>
          </a:p>
          <a:p>
            <a:pPr algn="ctr">
              <a:buNone/>
            </a:pPr>
            <a:r>
              <a:rPr lang="fr-FR" sz="1400" dirty="0">
                <a:solidFill>
                  <a:srgbClr val="C8D6E5"/>
                </a:solidFill>
              </a:rPr>
              <a:t>Reconnaissance</a:t>
            </a:r>
          </a:p>
        </p:txBody>
      </p:sp>
      <p:sp>
        <p:nvSpPr>
          <p:cNvPr id="205" name="Step6"/>
          <p:cNvSpPr/>
          <p:nvPr/>
        </p:nvSpPr>
        <p:spPr>
          <a:xfrm>
            <a:off x="700000" y="3600000"/>
            <a:ext cx="2600000" cy="1200000"/>
          </a:xfrm>
          <a:prstGeom prst="roundRect">
            <a:avLst>
              <a:gd name="adj" fmla="val 10000"/>
            </a:avLst>
          </a:prstGeom>
          <a:solidFill>
            <a:srgbClr val="9B59B6">
              <a:alpha val="20000"/>
            </a:srgbClr>
          </a:solidFill>
          <a:ln w="25400">
            <a:solidFill>
              <a:srgbClr val="9B59B6"/>
            </a:solidFill>
          </a:ln>
        </p:spPr>
        <p:txBody>
          <a:bodyPr lIns="91440" tIns="45720" rIns="91440" bIns="45720" anchor="ctr" anchorCtr="0"/>
          <a:lstStyle/>
          <a:p>
            <a:pPr algn="ctr">
              <a:buNone/>
            </a:pPr>
            <a:r>
              <a:rPr lang="fr-FR" sz="1600" b="1" dirty="0">
                <a:solidFill>
                  <a:srgbClr val="9B59B6"/>
                </a:solidFill>
              </a:rPr>
              <a:t>6. Post-traitement</a:t>
            </a:r>
          </a:p>
          <a:p>
            <a:pPr algn="ctr">
              <a:buNone/>
            </a:pPr>
            <a:r>
              <a:rPr lang="fr-FR" sz="1400" dirty="0">
                <a:solidFill>
                  <a:srgbClr val="C8D6E5"/>
                </a:solidFill>
              </a:rPr>
              <a:t>Enrichissement API</a:t>
            </a:r>
          </a:p>
        </p:txBody>
      </p:sp>
      <p:sp>
        <p:nvSpPr>
          <p:cNvPr id="210" name="Arrow0"/>
          <p:cNvSpPr/>
          <p:nvPr/>
        </p:nvSpPr>
        <p:spPr>
          <a:xfrm>
            <a:off x="3300000" y="2225000"/>
            <a:ext cx="400000" cy="150000"/>
          </a:xfrm>
          <a:prstGeom prst="rightArrow">
            <a:avLst/>
          </a:prstGeom>
          <a:solidFill>
            <a:srgbClr val="3498DB">
              <a:alpha val="60000"/>
            </a:srgbClr>
          </a:solidFill>
          <a:ln w="0"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211" name="Arrow1"/>
          <p:cNvSpPr/>
          <p:nvPr/>
        </p:nvSpPr>
        <p:spPr>
          <a:xfrm>
            <a:off x="6300000" y="2225000"/>
            <a:ext cx="400000" cy="150000"/>
          </a:xfrm>
          <a:prstGeom prst="rightArrow">
            <a:avLst/>
          </a:prstGeom>
          <a:solidFill>
            <a:srgbClr val="3498DB">
              <a:alpha val="60000"/>
            </a:srgbClr>
          </a:solidFill>
          <a:ln w="0"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215" name="ArrowDown"/>
          <p:cNvSpPr/>
          <p:nvPr/>
        </p:nvSpPr>
        <p:spPr>
          <a:xfrm rot="5400000">
            <a:off x="7925000" y="3175000"/>
            <a:ext cx="700000" cy="150000"/>
          </a:xfrm>
          <a:prstGeom prst="rightArrow">
            <a:avLst/>
          </a:prstGeom>
          <a:solidFill>
            <a:srgbClr val="3498DB">
              <a:alpha val="60000"/>
            </a:srgbClr>
          </a:solidFill>
          <a:ln w="0"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220" name="ArrowBot0"/>
          <p:cNvSpPr/>
          <p:nvPr/>
        </p:nvSpPr>
        <p:spPr>
          <a:xfrm>
            <a:off x="6300000" y="4125000"/>
            <a:ext cx="400000" cy="150000"/>
          </a:xfrm>
          <a:prstGeom prst="leftArrow">
            <a:avLst/>
          </a:prstGeom>
          <a:solidFill>
            <a:srgbClr val="3498DB">
              <a:alpha val="60000"/>
            </a:srgbClr>
          </a:solidFill>
          <a:ln w="0"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221" name="ArrowBot1"/>
          <p:cNvSpPr/>
          <p:nvPr/>
        </p:nvSpPr>
        <p:spPr>
          <a:xfrm>
            <a:off x="3300000" y="4125000"/>
            <a:ext cx="400000" cy="150000"/>
          </a:xfrm>
          <a:prstGeom prst="leftArrow">
            <a:avLst/>
          </a:prstGeom>
          <a:solidFill>
            <a:srgbClr val="3498DB">
              <a:alpha val="60000"/>
            </a:srgbClr>
          </a:solidFill>
          <a:ln w="0"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230" name="Output"/>
          <p:cNvSpPr/>
          <p:nvPr/>
        </p:nvSpPr>
        <p:spPr>
          <a:xfrm>
            <a:off x="773805" y="5260605"/>
            <a:ext cx="3000000" cy="700000"/>
          </a:xfrm>
          <a:prstGeom prst="roundRect">
            <a:avLst>
              <a:gd name="adj" fmla="val 10000"/>
            </a:avLst>
          </a:prstGeom>
          <a:solidFill>
            <a:srgbClr val="2ECC71">
              <a:alpha val="30000"/>
            </a:srgbClr>
          </a:solidFill>
          <a:ln w="28575">
            <a:solidFill>
              <a:srgbClr val="2ECC71"/>
            </a:solidFill>
          </a:ln>
        </p:spPr>
        <p:txBody>
          <a:bodyPr lIns="91440" tIns="45720" rIns="91440" bIns="45720" anchor="ctr" anchorCtr="0"/>
          <a:lstStyle/>
          <a:p>
            <a:pPr algn="ctr">
              <a:buNone/>
            </a:pPr>
            <a:r>
              <a:rPr lang="fr-FR" sz="1600" b="1" dirty="0">
                <a:solidFill>
                  <a:srgbClr val="2ECC71"/>
                </a:solidFill>
              </a:rPr>
              <a:t>Inventaire structuré (JSON/CSV)</a:t>
            </a:r>
          </a:p>
        </p:txBody>
      </p:sp>
      <p:sp>
        <p:nvSpPr>
          <p:cNvPr id="231" name="ArrowDown2"/>
          <p:cNvSpPr/>
          <p:nvPr/>
        </p:nvSpPr>
        <p:spPr>
          <a:xfrm rot="5400000">
            <a:off x="1800000" y="4957544"/>
            <a:ext cx="400000" cy="150000"/>
          </a:xfrm>
          <a:prstGeom prst="rightArrow">
            <a:avLst/>
          </a:prstGeom>
          <a:solidFill>
            <a:srgbClr val="2ECC71">
              <a:alpha val="60000"/>
            </a:srgbClr>
          </a:solidFill>
          <a:ln w="0">
            <a:noFill/>
          </a:ln>
        </p:spPr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604639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A925655-4D94-5528-01BB-3FED44C934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fr-FR" sz="3200" b="1" dirty="0">
                <a:solidFill>
                  <a:srgbClr val="F0F0F0"/>
                </a:solidFill>
                <a:latin typeface="Montserrat"/>
              </a:rPr>
              <a:t>Stack technique</a:t>
            </a:r>
          </a:p>
        </p:txBody>
      </p:sp>
      <p:graphicFrame>
        <p:nvGraphicFramePr>
          <p:cNvPr id="4" name="Tableau 3">
            <a:extLst>
              <a:ext uri="{FF2B5EF4-FFF2-40B4-BE49-F238E27FC236}">
                <a16:creationId xmlns:a16="http://schemas.microsoft.com/office/drawing/2014/main" id="{47CDA3DE-DB6D-4442-A0F7-491A96742BFD}"/>
              </a:ext>
            </a:extLst>
          </p:cNvPr>
          <p:cNvGraphicFramePr>
            <a:graphicFrameLocks noGrp="1"/>
          </p:cNvGraphicFramePr>
          <p:nvPr/>
        </p:nvGraphicFramePr>
        <p:xfrm>
          <a:off x="1524000" y="1778000"/>
          <a:ext cx="9144000" cy="48577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02000">
                  <a:extLst>
                    <a:ext uri="{9D8B030D-6E8A-4147-A177-3AD203B41FA5}">
                      <a16:colId xmlns:a16="http://schemas.microsoft.com/office/drawing/2014/main" val="3331935232"/>
                    </a:ext>
                  </a:extLst>
                </a:gridCol>
                <a:gridCol w="5842000">
                  <a:extLst>
                    <a:ext uri="{9D8B030D-6E8A-4147-A177-3AD203B41FA5}">
                      <a16:colId xmlns:a16="http://schemas.microsoft.com/office/drawing/2014/main" val="1396064228"/>
                    </a:ext>
                  </a:extLst>
                </a:gridCol>
              </a:tblGrid>
              <a:tr h="539750">
                <a:tc>
                  <a:txBody>
                    <a:bodyPr/>
                    <a:lstStyle/>
                    <a:p>
                      <a:pPr algn="ctr"/>
                      <a:r>
                        <a:rPr lang="fr-FR" sz="1600" b="1">
                          <a:solidFill>
                            <a:srgbClr val="FFFFFF"/>
                          </a:solidFill>
                          <a:latin typeface="Montserrat"/>
                        </a:rPr>
                        <a:t>Composant</a:t>
                      </a:r>
                    </a:p>
                  </a:txBody>
                  <a:tcPr anchor="ctr">
                    <a:solidFill>
                      <a:srgbClr val="3498D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600" b="1">
                          <a:solidFill>
                            <a:srgbClr val="FFFFFF"/>
                          </a:solidFill>
                          <a:latin typeface="Montserrat"/>
                        </a:rPr>
                        <a:t>Technologie</a:t>
                      </a:r>
                    </a:p>
                  </a:txBody>
                  <a:tcPr anchor="ctr">
                    <a:solidFill>
                      <a:srgbClr val="3498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5184869"/>
                  </a:ext>
                </a:extLst>
              </a:tr>
              <a:tr h="539750">
                <a:tc>
                  <a:txBody>
                    <a:bodyPr/>
                    <a:lstStyle/>
                    <a:p>
                      <a:pPr algn="l"/>
                      <a:r>
                        <a:rPr lang="fr-FR" sz="1500">
                          <a:solidFill>
                            <a:srgbClr val="C8D6E5"/>
                          </a:solidFill>
                          <a:latin typeface="Open Sans"/>
                          <a:ea typeface="Open Sans"/>
                          <a:cs typeface="Open Sans"/>
                        </a:rPr>
                        <a:t>Langage</a:t>
                      </a:r>
                    </a:p>
                  </a:txBody>
                  <a:tcPr anchor="ctr">
                    <a:solidFill>
                      <a:srgbClr val="1B2A3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1500">
                          <a:solidFill>
                            <a:srgbClr val="C8D6E5"/>
                          </a:solidFill>
                          <a:latin typeface="Open Sans"/>
                          <a:ea typeface="Open Sans"/>
                          <a:cs typeface="Open Sans"/>
                        </a:rPr>
                        <a:t>Python 3.10+</a:t>
                      </a:r>
                    </a:p>
                  </a:txBody>
                  <a:tcPr anchor="ctr">
                    <a:solidFill>
                      <a:srgbClr val="1B2A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797954"/>
                  </a:ext>
                </a:extLst>
              </a:tr>
              <a:tr h="539750">
                <a:tc>
                  <a:txBody>
                    <a:bodyPr/>
                    <a:lstStyle/>
                    <a:p>
                      <a:pPr algn="l"/>
                      <a:r>
                        <a:rPr lang="fr-FR" sz="1500">
                          <a:solidFill>
                            <a:srgbClr val="C8D6E5"/>
                          </a:solidFill>
                          <a:latin typeface="Open Sans"/>
                          <a:ea typeface="Open Sans"/>
                          <a:cs typeface="Open Sans"/>
                        </a:rPr>
                        <a:t>Traitement d'image</a:t>
                      </a:r>
                    </a:p>
                  </a:txBody>
                  <a:tcPr anchor="ctr">
                    <a:solidFill>
                      <a:srgbClr val="16223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1500">
                          <a:solidFill>
                            <a:srgbClr val="C8D6E5"/>
                          </a:solidFill>
                          <a:latin typeface="Open Sans"/>
                          <a:ea typeface="Open Sans"/>
                          <a:cs typeface="Open Sans"/>
                        </a:rPr>
                        <a:t>OpenCV, Pillow</a:t>
                      </a:r>
                    </a:p>
                  </a:txBody>
                  <a:tcPr anchor="ctr">
                    <a:solidFill>
                      <a:srgbClr val="1622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1763144"/>
                  </a:ext>
                </a:extLst>
              </a:tr>
              <a:tr h="539750">
                <a:tc>
                  <a:txBody>
                    <a:bodyPr/>
                    <a:lstStyle/>
                    <a:p>
                      <a:pPr algn="l"/>
                      <a:r>
                        <a:rPr lang="fr-FR" sz="1500">
                          <a:solidFill>
                            <a:srgbClr val="C8D6E5"/>
                          </a:solidFill>
                          <a:latin typeface="Open Sans"/>
                          <a:ea typeface="Open Sans"/>
                          <a:cs typeface="Open Sans"/>
                        </a:rPr>
                        <a:t>Détection de texte</a:t>
                      </a:r>
                    </a:p>
                  </a:txBody>
                  <a:tcPr anchor="ctr">
                    <a:solidFill>
                      <a:srgbClr val="1B2A3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1500">
                          <a:solidFill>
                            <a:srgbClr val="C8D6E5"/>
                          </a:solidFill>
                          <a:latin typeface="Open Sans"/>
                          <a:ea typeface="Open Sans"/>
                          <a:cs typeface="Open Sans"/>
                        </a:rPr>
                        <a:t>PaddleOCR (DB-Net)</a:t>
                      </a:r>
                    </a:p>
                  </a:txBody>
                  <a:tcPr anchor="ctr">
                    <a:solidFill>
                      <a:srgbClr val="1B2A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6681604"/>
                  </a:ext>
                </a:extLst>
              </a:tr>
              <a:tr h="539750">
                <a:tc>
                  <a:txBody>
                    <a:bodyPr/>
                    <a:lstStyle/>
                    <a:p>
                      <a:pPr algn="l"/>
                      <a:r>
                        <a:rPr lang="fr-FR" sz="1500">
                          <a:solidFill>
                            <a:srgbClr val="C8D6E5"/>
                          </a:solidFill>
                          <a:latin typeface="Open Sans"/>
                          <a:ea typeface="Open Sans"/>
                          <a:cs typeface="Open Sans"/>
                        </a:rPr>
                        <a:t>Reconnaissance OCR</a:t>
                      </a:r>
                    </a:p>
                  </a:txBody>
                  <a:tcPr anchor="ctr">
                    <a:solidFill>
                      <a:srgbClr val="16223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1500">
                          <a:solidFill>
                            <a:srgbClr val="C8D6E5"/>
                          </a:solidFill>
                          <a:latin typeface="Open Sans"/>
                          <a:ea typeface="Open Sans"/>
                          <a:cs typeface="Open Sans"/>
                        </a:rPr>
                        <a:t>PaddleOCR / TrOCR / Tesseract</a:t>
                      </a:r>
                    </a:p>
                  </a:txBody>
                  <a:tcPr anchor="ctr">
                    <a:solidFill>
                      <a:srgbClr val="1622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8323874"/>
                  </a:ext>
                </a:extLst>
              </a:tr>
              <a:tr h="539750">
                <a:tc>
                  <a:txBody>
                    <a:bodyPr/>
                    <a:lstStyle/>
                    <a:p>
                      <a:pPr algn="l"/>
                      <a:r>
                        <a:rPr lang="fr-FR" sz="1500">
                          <a:solidFill>
                            <a:srgbClr val="C8D6E5"/>
                          </a:solidFill>
                          <a:latin typeface="Open Sans"/>
                          <a:ea typeface="Open Sans"/>
                          <a:cs typeface="Open Sans"/>
                        </a:rPr>
                        <a:t>Deep Learning</a:t>
                      </a:r>
                    </a:p>
                  </a:txBody>
                  <a:tcPr anchor="ctr">
                    <a:solidFill>
                      <a:srgbClr val="1B2A3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1500">
                          <a:solidFill>
                            <a:srgbClr val="C8D6E5"/>
                          </a:solidFill>
                          <a:latin typeface="Open Sans"/>
                          <a:ea typeface="Open Sans"/>
                          <a:cs typeface="Open Sans"/>
                        </a:rPr>
                        <a:t>PyTorch (via Transformers / TrOCR)</a:t>
                      </a:r>
                    </a:p>
                  </a:txBody>
                  <a:tcPr anchor="ctr">
                    <a:solidFill>
                      <a:srgbClr val="1B2A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6561092"/>
                  </a:ext>
                </a:extLst>
              </a:tr>
              <a:tr h="539750">
                <a:tc>
                  <a:txBody>
                    <a:bodyPr/>
                    <a:lstStyle/>
                    <a:p>
                      <a:pPr algn="l"/>
                      <a:r>
                        <a:rPr lang="fr-FR" sz="1500">
                          <a:solidFill>
                            <a:srgbClr val="C8D6E5"/>
                          </a:solidFill>
                          <a:latin typeface="Open Sans"/>
                          <a:ea typeface="Open Sans"/>
                          <a:cs typeface="Open Sans"/>
                        </a:rPr>
                        <a:t>API bibliographique</a:t>
                      </a:r>
                    </a:p>
                  </a:txBody>
                  <a:tcPr anchor="ctr">
                    <a:solidFill>
                      <a:srgbClr val="16223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1500">
                          <a:solidFill>
                            <a:srgbClr val="C8D6E5"/>
                          </a:solidFill>
                          <a:latin typeface="Open Sans"/>
                          <a:ea typeface="Open Sans"/>
                          <a:cs typeface="Open Sans"/>
                        </a:rPr>
                        <a:t>Google Books / Open Library</a:t>
                      </a:r>
                    </a:p>
                  </a:txBody>
                  <a:tcPr anchor="ctr">
                    <a:solidFill>
                      <a:srgbClr val="1622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240793"/>
                  </a:ext>
                </a:extLst>
              </a:tr>
              <a:tr h="539750">
                <a:tc>
                  <a:txBody>
                    <a:bodyPr/>
                    <a:lstStyle/>
                    <a:p>
                      <a:pPr algn="l"/>
                      <a:r>
                        <a:rPr lang="fr-FR" sz="1500">
                          <a:solidFill>
                            <a:srgbClr val="C8D6E5"/>
                          </a:solidFill>
                          <a:latin typeface="Open Sans"/>
                          <a:ea typeface="Open Sans"/>
                          <a:cs typeface="Open Sans"/>
                        </a:rPr>
                        <a:t>Fuzzy matching</a:t>
                      </a:r>
                    </a:p>
                  </a:txBody>
                  <a:tcPr anchor="ctr">
                    <a:solidFill>
                      <a:srgbClr val="1B2A3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1500">
                          <a:solidFill>
                            <a:srgbClr val="C8D6E5"/>
                          </a:solidFill>
                          <a:latin typeface="Open Sans"/>
                          <a:ea typeface="Open Sans"/>
                          <a:cs typeface="Open Sans"/>
                        </a:rPr>
                        <a:t>rapidfuzz</a:t>
                      </a:r>
                    </a:p>
                  </a:txBody>
                  <a:tcPr anchor="ctr">
                    <a:solidFill>
                      <a:srgbClr val="1B2A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6307091"/>
                  </a:ext>
                </a:extLst>
              </a:tr>
              <a:tr h="539750">
                <a:tc>
                  <a:txBody>
                    <a:bodyPr/>
                    <a:lstStyle/>
                    <a:p>
                      <a:pPr algn="l"/>
                      <a:r>
                        <a:rPr lang="fr-FR" sz="1500">
                          <a:solidFill>
                            <a:srgbClr val="C8D6E5"/>
                          </a:solidFill>
                          <a:latin typeface="Open Sans"/>
                          <a:ea typeface="Open Sans"/>
                          <a:cs typeface="Open Sans"/>
                        </a:rPr>
                        <a:t>Interface démo</a:t>
                      </a:r>
                    </a:p>
                  </a:txBody>
                  <a:tcPr anchor="ctr">
                    <a:solidFill>
                      <a:srgbClr val="1B2A3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1500">
                          <a:solidFill>
                            <a:srgbClr val="C8D6E5"/>
                          </a:solidFill>
                          <a:latin typeface="Open Sans"/>
                          <a:ea typeface="Open Sans"/>
                          <a:cs typeface="Open Sans"/>
                        </a:rPr>
                        <a:t>Streamlit</a:t>
                      </a:r>
                    </a:p>
                  </a:txBody>
                  <a:tcPr anchor="ctr">
                    <a:solidFill>
                      <a:srgbClr val="1B2A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611442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271928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6935455-15FA-7A04-53B4-9B30603D98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buNone/>
            </a:pPr>
            <a:r>
              <a:rPr lang="fr-FR" sz="3200" b="1" dirty="0">
                <a:solidFill>
                  <a:srgbClr val="F0F0F0"/>
                </a:solidFill>
                <a:latin typeface="Montserrat"/>
              </a:rPr>
              <a:t>Comparaison des modèles OCR</a:t>
            </a:r>
          </a:p>
        </p:txBody>
      </p:sp>
      <p:graphicFrame>
        <p:nvGraphicFramePr>
          <p:cNvPr id="4" name="Tableau 3">
            <a:extLst>
              <a:ext uri="{FF2B5EF4-FFF2-40B4-BE49-F238E27FC236}">
                <a16:creationId xmlns:a16="http://schemas.microsoft.com/office/drawing/2014/main" id="{8D943965-CC62-4381-84DD-CCBFD571B0A8}"/>
              </a:ext>
            </a:extLst>
          </p:cNvPr>
          <p:cNvGraphicFramePr>
            <a:graphicFrameLocks noGrp="1"/>
          </p:cNvGraphicFramePr>
          <p:nvPr/>
        </p:nvGraphicFramePr>
        <p:xfrm>
          <a:off x="635000" y="1841500"/>
          <a:ext cx="10922000" cy="25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1000">
                  <a:extLst>
                    <a:ext uri="{9D8B030D-6E8A-4147-A177-3AD203B41FA5}">
                      <a16:colId xmlns:a16="http://schemas.microsoft.com/office/drawing/2014/main" val="192659208"/>
                    </a:ext>
                  </a:extLst>
                </a:gridCol>
                <a:gridCol w="2794000">
                  <a:extLst>
                    <a:ext uri="{9D8B030D-6E8A-4147-A177-3AD203B41FA5}">
                      <a16:colId xmlns:a16="http://schemas.microsoft.com/office/drawing/2014/main" val="3011704591"/>
                    </a:ext>
                  </a:extLst>
                </a:gridCol>
                <a:gridCol w="3429000">
                  <a:extLst>
                    <a:ext uri="{9D8B030D-6E8A-4147-A177-3AD203B41FA5}">
                      <a16:colId xmlns:a16="http://schemas.microsoft.com/office/drawing/2014/main" val="1441297742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3207446146"/>
                    </a:ext>
                  </a:extLst>
                </a:gridCol>
              </a:tblGrid>
              <a:tr h="635000">
                <a:tc>
                  <a:txBody>
                    <a:bodyPr/>
                    <a:lstStyle/>
                    <a:p>
                      <a:pPr algn="ctr"/>
                      <a:r>
                        <a:rPr lang="fr-FR" sz="1400" b="1">
                          <a:solidFill>
                            <a:srgbClr val="FFFFFF"/>
                          </a:solidFill>
                          <a:latin typeface="Montserrat"/>
                        </a:rPr>
                        <a:t>Modèle</a:t>
                      </a:r>
                    </a:p>
                  </a:txBody>
                  <a:tcPr anchor="ctr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b="1">
                          <a:solidFill>
                            <a:srgbClr val="FFFFFF"/>
                          </a:solidFill>
                          <a:latin typeface="Montserrat"/>
                        </a:rPr>
                        <a:t>Type</a:t>
                      </a:r>
                    </a:p>
                  </a:txBody>
                  <a:tcPr anchor="ctr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b="1">
                          <a:solidFill>
                            <a:srgbClr val="FFFFFF"/>
                          </a:solidFill>
                          <a:latin typeface="Montserrat"/>
                        </a:rPr>
                        <a:t>Forces</a:t>
                      </a:r>
                    </a:p>
                  </a:txBody>
                  <a:tcPr anchor="ctr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b="1">
                          <a:solidFill>
                            <a:srgbClr val="FFFFFF"/>
                          </a:solidFill>
                          <a:latin typeface="Montserrat"/>
                        </a:rPr>
                        <a:t>Faiblesses</a:t>
                      </a:r>
                    </a:p>
                  </a:txBody>
                  <a:tcPr anchor="ctr">
                    <a:solidFill>
                      <a:srgbClr val="1A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9717994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pPr algn="l"/>
                      <a:r>
                        <a:rPr lang="fr-FR" sz="1400" b="1">
                          <a:solidFill>
                            <a:srgbClr val="3498DB"/>
                          </a:solidFill>
                          <a:latin typeface="Open Sans"/>
                          <a:ea typeface="Open Sans"/>
                          <a:cs typeface="Open Sans"/>
                        </a:rPr>
                        <a:t>PaddleOCR</a:t>
                      </a:r>
                    </a:p>
                  </a:txBody>
                  <a:tcPr anchor="ctr"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1400">
                          <a:solidFill>
                            <a:srgbClr val="C8D6E5"/>
                          </a:solidFill>
                          <a:latin typeface="Open Sans"/>
                          <a:ea typeface="Open Sans"/>
                          <a:cs typeface="Open Sans"/>
                        </a:rPr>
                        <a:t>SVTR (CNN + Transformer)</a:t>
                      </a:r>
                    </a:p>
                  </a:txBody>
                  <a:tcPr anchor="ctr"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1400">
                          <a:solidFill>
                            <a:srgbClr val="C8D6E5"/>
                          </a:solidFill>
                          <a:latin typeface="Open Sans"/>
                          <a:ea typeface="Open Sans"/>
                          <a:cs typeface="Open Sans"/>
                        </a:rPr>
                        <a:t>Rapide, bon sur texte imprimé</a:t>
                      </a:r>
                    </a:p>
                  </a:txBody>
                  <a:tcPr anchor="ctr"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1400">
                          <a:solidFill>
                            <a:srgbClr val="C8D6E5"/>
                          </a:solidFill>
                          <a:latin typeface="Open Sans"/>
                          <a:ea typeface="Open Sans"/>
                          <a:cs typeface="Open Sans"/>
                        </a:rPr>
                        <a:t>Moins bon sur polices décoratives</a:t>
                      </a:r>
                    </a:p>
                  </a:txBody>
                  <a:tcPr anchor="ctr">
                    <a:solidFill>
                      <a:srgbClr val="1A27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0600369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pPr algn="l"/>
                      <a:r>
                        <a:rPr lang="fr-FR" sz="1400" b="1">
                          <a:solidFill>
                            <a:srgbClr val="3498DB"/>
                          </a:solidFill>
                          <a:latin typeface="Open Sans"/>
                          <a:ea typeface="Open Sans"/>
                          <a:cs typeface="Open Sans"/>
                        </a:rPr>
                        <a:t>TrOCR</a:t>
                      </a:r>
                    </a:p>
                  </a:txBody>
                  <a:tcPr anchor="ctr">
                    <a:solidFill>
                      <a:srgbClr val="16203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1400">
                          <a:solidFill>
                            <a:srgbClr val="C8D6E5"/>
                          </a:solidFill>
                          <a:latin typeface="Open Sans"/>
                          <a:ea typeface="Open Sans"/>
                          <a:cs typeface="Open Sans"/>
                        </a:rPr>
                        <a:t>Transformer pur</a:t>
                      </a:r>
                    </a:p>
                  </a:txBody>
                  <a:tcPr anchor="ctr">
                    <a:solidFill>
                      <a:srgbClr val="16203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1400">
                          <a:solidFill>
                            <a:srgbClr val="C8D6E5"/>
                          </a:solidFill>
                          <a:latin typeface="Open Sans"/>
                          <a:ea typeface="Open Sans"/>
                          <a:cs typeface="Open Sans"/>
                        </a:rPr>
                        <a:t>Excellent sur texte complexe</a:t>
                      </a:r>
                    </a:p>
                  </a:txBody>
                  <a:tcPr anchor="ctr">
                    <a:solidFill>
                      <a:srgbClr val="16203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1400">
                          <a:solidFill>
                            <a:srgbClr val="C8D6E5"/>
                          </a:solidFill>
                          <a:latin typeface="Open Sans"/>
                          <a:ea typeface="Open Sans"/>
                          <a:cs typeface="Open Sans"/>
                        </a:rPr>
                        <a:t>Plus lent, requiert GPU</a:t>
                      </a:r>
                    </a:p>
                  </a:txBody>
                  <a:tcPr anchor="ctr">
                    <a:solidFill>
                      <a:srgbClr val="1620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5966567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pPr algn="l"/>
                      <a:r>
                        <a:rPr lang="fr-FR" sz="1400" b="1">
                          <a:solidFill>
                            <a:srgbClr val="3498DB"/>
                          </a:solidFill>
                          <a:latin typeface="Open Sans"/>
                          <a:ea typeface="Open Sans"/>
                          <a:cs typeface="Open Sans"/>
                        </a:rPr>
                        <a:t>Tesseract</a:t>
                      </a:r>
                    </a:p>
                  </a:txBody>
                  <a:tcPr anchor="ctr"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1400">
                          <a:solidFill>
                            <a:srgbClr val="C8D6E5"/>
                          </a:solidFill>
                          <a:latin typeface="Open Sans"/>
                          <a:ea typeface="Open Sans"/>
                          <a:cs typeface="Open Sans"/>
                        </a:rPr>
                        <a:t>LSTM classique</a:t>
                      </a:r>
                    </a:p>
                  </a:txBody>
                  <a:tcPr anchor="ctr"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1400">
                          <a:solidFill>
                            <a:srgbClr val="C8D6E5"/>
                          </a:solidFill>
                          <a:latin typeface="Open Sans"/>
                          <a:ea typeface="Open Sans"/>
                          <a:cs typeface="Open Sans"/>
                        </a:rPr>
                        <a:t>Léger, multilingue</a:t>
                      </a:r>
                    </a:p>
                  </a:txBody>
                  <a:tcPr anchor="ctr"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1400">
                          <a:solidFill>
                            <a:srgbClr val="C8D6E5"/>
                          </a:solidFill>
                          <a:latin typeface="Open Sans"/>
                          <a:ea typeface="Open Sans"/>
                          <a:cs typeface="Open Sans"/>
                        </a:rPr>
                        <a:t>Sensible au bruit, moins précis</a:t>
                      </a:r>
                    </a:p>
                  </a:txBody>
                  <a:tcPr anchor="ctr">
                    <a:solidFill>
                      <a:srgbClr val="1A27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780331"/>
                  </a:ext>
                </a:extLst>
              </a:tr>
            </a:tbl>
          </a:graphicData>
        </a:graphic>
      </p:graphicFrame>
      <p:sp>
        <p:nvSpPr>
          <p:cNvPr id="5" name="ZoneTexte 4">
            <a:extLst>
              <a:ext uri="{FF2B5EF4-FFF2-40B4-BE49-F238E27FC236}">
                <a16:creationId xmlns:a16="http://schemas.microsoft.com/office/drawing/2014/main" id="{15C32865-8858-48E3-B0E9-BB49A153330E}"/>
              </a:ext>
            </a:extLst>
          </p:cNvPr>
          <p:cNvSpPr txBox="1"/>
          <p:nvPr/>
        </p:nvSpPr>
        <p:spPr>
          <a:xfrm>
            <a:off x="635000" y="4699000"/>
            <a:ext cx="10922000" cy="1223412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>
              <a:buNone/>
            </a:pPr>
            <a:r>
              <a:rPr lang="fr-FR" sz="1800" b="1" dirty="0">
                <a:solidFill>
                  <a:srgbClr val="2ECC71"/>
                </a:solidFill>
                <a:latin typeface="Open Sans"/>
              </a:rPr>
              <a:t>Choix retenu</a:t>
            </a:r>
          </a:p>
          <a:p>
            <a:pPr marL="342900" indent="-228600">
              <a:spcBef>
                <a:spcPts val="300"/>
              </a:spcBef>
              <a:buFont typeface="Arial"/>
              <a:buChar char="•"/>
            </a:pPr>
            <a:r>
              <a:rPr lang="fr-FR" sz="1600" b="1" dirty="0">
                <a:solidFill>
                  <a:srgbClr val="3498DB"/>
                </a:solidFill>
                <a:latin typeface="Open Sans"/>
              </a:rPr>
              <a:t>PaddleOCR</a:t>
            </a:r>
            <a:r>
              <a:rPr lang="fr-FR" sz="1600" dirty="0">
                <a:solidFill>
                  <a:srgbClr val="C8D6E5"/>
                </a:solidFill>
                <a:latin typeface="Open Sans"/>
              </a:rPr>
              <a:t> comme modèle principal (meilleur compromis vitesse/précision)</a:t>
            </a:r>
          </a:p>
          <a:p>
            <a:pPr marL="342900" indent="-228600">
              <a:spcBef>
                <a:spcPts val="300"/>
              </a:spcBef>
              <a:buFont typeface="Arial"/>
              <a:buChar char="•"/>
            </a:pPr>
            <a:r>
              <a:rPr lang="fr-FR" sz="1600" b="1" dirty="0">
                <a:solidFill>
                  <a:srgbClr val="F39C12"/>
                </a:solidFill>
                <a:latin typeface="Open Sans"/>
              </a:rPr>
              <a:t>TrOCR</a:t>
            </a:r>
            <a:r>
              <a:rPr lang="fr-FR" sz="1600" dirty="0">
                <a:solidFill>
                  <a:srgbClr val="C8D6E5"/>
                </a:solidFill>
                <a:latin typeface="Open Sans"/>
              </a:rPr>
              <a:t> disponible comme moteur alternatif (sélection manuelle)</a:t>
            </a:r>
          </a:p>
          <a:p>
            <a:pPr marL="342900" indent="-228600">
              <a:spcBef>
                <a:spcPts val="300"/>
              </a:spcBef>
              <a:buFont typeface="Arial"/>
              <a:buChar char="•"/>
            </a:pPr>
            <a:r>
              <a:rPr lang="fr-FR" sz="1600" b="1" dirty="0">
                <a:solidFill>
                  <a:srgbClr val="9B59B6"/>
                </a:solidFill>
                <a:latin typeface="Open Sans"/>
              </a:rPr>
              <a:t>Tesseract</a:t>
            </a:r>
            <a:r>
              <a:rPr lang="fr-FR" sz="1600" dirty="0">
                <a:solidFill>
                  <a:srgbClr val="C8D6E5"/>
                </a:solidFill>
                <a:latin typeface="Open Sans"/>
              </a:rPr>
              <a:t> comme baseline de référence</a:t>
            </a:r>
          </a:p>
        </p:txBody>
      </p:sp>
    </p:spTree>
    <p:extLst>
      <p:ext uri="{BB962C8B-B14F-4D97-AF65-F5344CB8AC3E}">
        <p14:creationId xmlns:p14="http://schemas.microsoft.com/office/powerpoint/2010/main" val="20256398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BDC256F-38CB-2235-E90A-9E1040FC85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buNone/>
            </a:pPr>
            <a:r>
              <a:rPr lang="fr-FR" sz="2800" b="1" dirty="0">
                <a:solidFill>
                  <a:srgbClr val="F0F0F0"/>
                </a:solidFill>
                <a:latin typeface="Montserrat"/>
              </a:rPr>
              <a:t>Post-traitement &amp; enrichissement API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82ECF01-33E5-6B9F-7175-FC810112F6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514022"/>
          </a:xfrm>
        </p:spPr>
        <p:txBody>
          <a:bodyPr>
            <a:spAutoFit/>
          </a:bodyPr>
          <a:lstStyle/>
          <a:p>
            <a:pPr>
              <a:buNone/>
            </a:pPr>
            <a:r>
              <a:rPr lang="fr-FR" sz="1800" b="1" dirty="0">
                <a:solidFill>
                  <a:srgbClr val="3498DB"/>
                </a:solidFill>
                <a:latin typeface="Open Sans"/>
              </a:rPr>
              <a:t>Nettoyage du texte OCR</a:t>
            </a:r>
          </a:p>
          <a:p>
            <a:pPr marL="342900" indent="-228600">
              <a:spcBef>
                <a:spcPts val="300"/>
              </a:spcBef>
              <a:buFont typeface="Arial"/>
              <a:buChar char="•"/>
            </a:pPr>
            <a:r>
              <a:rPr lang="fr-FR" sz="1600" dirty="0">
                <a:solidFill>
                  <a:srgbClr val="C8D6E5"/>
                </a:solidFill>
                <a:latin typeface="Open Sans"/>
              </a:rPr>
              <a:t>Normalisation Unicode (NFC), suppression caractères parasites</a:t>
            </a:r>
          </a:p>
          <a:p>
            <a:pPr marL="342900" indent="-228600">
              <a:spcBef>
                <a:spcPts val="300"/>
              </a:spcBef>
              <a:buFont typeface="Arial"/>
              <a:buChar char="•"/>
            </a:pPr>
            <a:r>
              <a:rPr lang="fr-FR" sz="1600" dirty="0">
                <a:solidFill>
                  <a:srgbClr val="C8D6E5"/>
                </a:solidFill>
                <a:latin typeface="Open Sans"/>
              </a:rPr>
              <a:t>Séparation titre / auteur par heuristiques</a:t>
            </a:r>
          </a:p>
          <a:p>
            <a:pPr marL="342900" indent="-228600">
              <a:spcBef>
                <a:spcPts val="300"/>
              </a:spcBef>
              <a:buFont typeface="Arial"/>
              <a:buChar char="•"/>
            </a:pPr>
            <a:r>
              <a:rPr lang="fr-FR" sz="1600" dirty="0">
                <a:solidFill>
                  <a:srgbClr val="C8D6E5"/>
                </a:solidFill>
                <a:latin typeface="Open Sans"/>
              </a:rPr>
              <a:t>Fusion des fragments de texte d'une même tranche</a:t>
            </a:r>
          </a:p>
          <a:p>
            <a:pPr>
              <a:spcBef>
                <a:spcPts val="800"/>
              </a:spcBef>
              <a:buNone/>
            </a:pPr>
            <a:r>
              <a:rPr lang="fr-FR" sz="1800" b="1" dirty="0">
                <a:solidFill>
                  <a:srgbClr val="2ECC71"/>
                </a:solidFill>
                <a:latin typeface="Open Sans"/>
              </a:rPr>
              <a:t>Enrichissement bibliographique</a:t>
            </a:r>
          </a:p>
          <a:p>
            <a:pPr marL="342900" indent="-228600">
              <a:spcBef>
                <a:spcPts val="300"/>
              </a:spcBef>
              <a:buFont typeface="Arial"/>
              <a:buChar char="•"/>
            </a:pPr>
            <a:r>
              <a:rPr lang="fr-FR" sz="1600" b="1" dirty="0">
                <a:solidFill>
                  <a:srgbClr val="F39C12"/>
                </a:solidFill>
                <a:latin typeface="Open Sans"/>
              </a:rPr>
              <a:t>Fuzzy matching</a:t>
            </a:r>
            <a:r>
              <a:rPr lang="fr-FR" sz="1600" dirty="0">
                <a:solidFill>
                  <a:srgbClr val="C8D6E5"/>
                </a:solidFill>
                <a:latin typeface="Open Sans"/>
              </a:rPr>
              <a:t> (ratio de similarité ≥ 60%) vers les API</a:t>
            </a:r>
          </a:p>
          <a:p>
            <a:pPr marL="342900" indent="-228600">
              <a:spcBef>
                <a:spcPts val="300"/>
              </a:spcBef>
              <a:buFont typeface="Arial"/>
              <a:buChar char="•"/>
            </a:pPr>
            <a:r>
              <a:rPr lang="fr-FR" sz="1600" dirty="0">
                <a:solidFill>
                  <a:srgbClr val="C8D6E5"/>
                </a:solidFill>
                <a:latin typeface="Open Sans"/>
              </a:rPr>
              <a:t>Google Books API + Open Library API</a:t>
            </a:r>
          </a:p>
          <a:p>
            <a:pPr marL="342900" indent="-228600">
              <a:spcBef>
                <a:spcPts val="300"/>
              </a:spcBef>
              <a:buFont typeface="Arial"/>
              <a:buChar char="•"/>
            </a:pPr>
            <a:r>
              <a:rPr lang="fr-FR" sz="1600" dirty="0">
                <a:solidFill>
                  <a:srgbClr val="C8D6E5"/>
                </a:solidFill>
                <a:latin typeface="Open Sans"/>
              </a:rPr>
              <a:t>Métadonnées récupérées : titre complet, auteur, ISBN, éditeur</a:t>
            </a:r>
          </a:p>
          <a:p>
            <a:pPr marL="342900" indent="-228600">
              <a:spcBef>
                <a:spcPts val="300"/>
              </a:spcBef>
              <a:buFont typeface="Arial"/>
              <a:buChar char="•"/>
            </a:pPr>
            <a:r>
              <a:rPr lang="fr-FR" sz="1600" dirty="0">
                <a:solidFill>
                  <a:srgbClr val="C8D6E5"/>
                </a:solidFill>
                <a:latin typeface="Open Sans"/>
              </a:rPr>
              <a:t>Export structuré en JSON et CSV</a:t>
            </a:r>
          </a:p>
        </p:txBody>
      </p:sp>
    </p:spTree>
    <p:extLst>
      <p:ext uri="{BB962C8B-B14F-4D97-AF65-F5344CB8AC3E}">
        <p14:creationId xmlns:p14="http://schemas.microsoft.com/office/powerpoint/2010/main" val="23128651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A61924F-CDDA-27B9-1A6A-FDA1E1E18F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fr-FR" sz="3200" b="1" dirty="0">
                <a:solidFill>
                  <a:srgbClr val="F0F0F0"/>
                </a:solidFill>
                <a:latin typeface="Montserrat"/>
              </a:rPr>
              <a:t>Démonstration : interface Streamlit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833E7AC-516F-D9DD-7DF8-C65CBE92F9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363450"/>
          </a:xfrm>
        </p:spPr>
        <p:txBody>
          <a:bodyPr>
            <a:spAutoFit/>
          </a:bodyPr>
          <a:lstStyle/>
          <a:p>
            <a:pPr>
              <a:buNone/>
            </a:pPr>
            <a:r>
              <a:rPr lang="fr-FR" sz="1600" b="1" dirty="0">
                <a:solidFill>
                  <a:srgbClr val="3498DB"/>
                </a:solidFill>
              </a:rPr>
              <a:t>1. Upload</a:t>
            </a:r>
            <a:r>
              <a:rPr lang="fr-FR" sz="1600" dirty="0">
                <a:solidFill>
                  <a:srgbClr val="C8D6E5"/>
                </a:solidFill>
              </a:rPr>
              <a:t> — Charger une photo d'étagère (JPEG/PNG)</a:t>
            </a:r>
          </a:p>
          <a:p>
            <a:pPr>
              <a:buNone/>
            </a:pPr>
            <a:r>
              <a:rPr lang="fr-FR" sz="1600" b="1" dirty="0">
                <a:solidFill>
                  <a:srgbClr val="2ECC71"/>
                </a:solidFill>
              </a:rPr>
              <a:t>2. Visualisation</a:t>
            </a:r>
            <a:r>
              <a:rPr lang="fr-FR" sz="1600" dirty="0">
                <a:solidFill>
                  <a:srgbClr val="C8D6E5"/>
                </a:solidFill>
              </a:rPr>
              <a:t> — Pipeline étape par étape avec bounding boxes</a:t>
            </a:r>
          </a:p>
          <a:p>
            <a:pPr>
              <a:buNone/>
            </a:pPr>
            <a:r>
              <a:rPr lang="fr-FR" sz="1600" b="1" dirty="0">
                <a:solidFill>
                  <a:srgbClr val="F39C12"/>
                </a:solidFill>
              </a:rPr>
              <a:t>3. Inventaire</a:t>
            </a:r>
            <a:r>
              <a:rPr lang="fr-FR" sz="1600" dirty="0">
                <a:solidFill>
                  <a:srgbClr val="C8D6E5"/>
                </a:solidFill>
              </a:rPr>
              <a:t> — Tableau interactif (titre, auteur, confiance OCR)</a:t>
            </a:r>
          </a:p>
          <a:p>
            <a:pPr>
              <a:buNone/>
            </a:pPr>
            <a:r>
              <a:rPr lang="fr-FR" sz="1600" b="1" dirty="0">
                <a:solidFill>
                  <a:srgbClr val="E74C3C"/>
                </a:solidFill>
              </a:rPr>
              <a:t>4. Export</a:t>
            </a:r>
            <a:r>
              <a:rPr lang="fr-FR" sz="1600" dirty="0">
                <a:solidFill>
                  <a:srgbClr val="C8D6E5"/>
                </a:solidFill>
              </a:rPr>
              <a:t> — Télécharger les résultats en CSV (JSON via CLI)</a:t>
            </a:r>
          </a:p>
        </p:txBody>
      </p:sp>
    </p:spTree>
    <p:extLst>
      <p:ext uri="{BB962C8B-B14F-4D97-AF65-F5344CB8AC3E}">
        <p14:creationId xmlns:p14="http://schemas.microsoft.com/office/powerpoint/2010/main" val="23352649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00B7B65-DD43-7D87-37F9-EA5B7FE5F4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fr-FR" sz="3200" b="1" dirty="0">
                <a:solidFill>
                  <a:srgbClr val="F0F0F0"/>
                </a:solidFill>
                <a:latin typeface="Montserrat"/>
              </a:rPr>
              <a:t>Risques identifiés &amp; mitigations</a:t>
            </a:r>
          </a:p>
        </p:txBody>
      </p:sp>
      <p:graphicFrame>
        <p:nvGraphicFramePr>
          <p:cNvPr id="4" name="Tableau 3">
            <a:extLst>
              <a:ext uri="{FF2B5EF4-FFF2-40B4-BE49-F238E27FC236}">
                <a16:creationId xmlns:a16="http://schemas.microsoft.com/office/drawing/2014/main" id="{4A40120E-805E-C142-B6E3-2B5C5F14DA51}"/>
              </a:ext>
            </a:extLst>
          </p:cNvPr>
          <p:cNvGraphicFramePr>
            <a:graphicFrameLocks noGrp="1"/>
          </p:cNvGraphicFramePr>
          <p:nvPr/>
        </p:nvGraphicFramePr>
        <p:xfrm>
          <a:off x="762000" y="1905000"/>
          <a:ext cx="10668000" cy="43180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02000">
                  <a:extLst>
                    <a:ext uri="{9D8B030D-6E8A-4147-A177-3AD203B41FA5}">
                      <a16:colId xmlns:a16="http://schemas.microsoft.com/office/drawing/2014/main" val="3403888594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787881820"/>
                    </a:ext>
                  </a:extLst>
                </a:gridCol>
                <a:gridCol w="5842000">
                  <a:extLst>
                    <a:ext uri="{9D8B030D-6E8A-4147-A177-3AD203B41FA5}">
                      <a16:colId xmlns:a16="http://schemas.microsoft.com/office/drawing/2014/main" val="98215662"/>
                    </a:ext>
                  </a:extLst>
                </a:gridCol>
              </a:tblGrid>
              <a:tr h="719667">
                <a:tc>
                  <a:txBody>
                    <a:bodyPr/>
                    <a:lstStyle/>
                    <a:p>
                      <a:pPr algn="ctr"/>
                      <a:r>
                        <a:rPr lang="fr-FR" sz="1500" b="1">
                          <a:solidFill>
                            <a:srgbClr val="FFFFFF"/>
                          </a:solidFill>
                          <a:latin typeface="Montserrat"/>
                        </a:rPr>
                        <a:t>Risque</a:t>
                      </a:r>
                    </a:p>
                  </a:txBody>
                  <a:tcPr anchor="ctr">
                    <a:solidFill>
                      <a:srgbClr val="3498D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500" b="1">
                          <a:solidFill>
                            <a:srgbClr val="FFFFFF"/>
                          </a:solidFill>
                          <a:latin typeface="Montserrat"/>
                        </a:rPr>
                        <a:t>Impact</a:t>
                      </a:r>
                    </a:p>
                  </a:txBody>
                  <a:tcPr anchor="ctr">
                    <a:solidFill>
                      <a:srgbClr val="3498D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500" b="1">
                          <a:solidFill>
                            <a:srgbClr val="FFFFFF"/>
                          </a:solidFill>
                          <a:latin typeface="Montserrat"/>
                        </a:rPr>
                        <a:t>Mitigation</a:t>
                      </a:r>
                    </a:p>
                  </a:txBody>
                  <a:tcPr anchor="ctr">
                    <a:solidFill>
                      <a:srgbClr val="3498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5832404"/>
                  </a:ext>
                </a:extLst>
              </a:tr>
              <a:tr h="719667">
                <a:tc>
                  <a:txBody>
                    <a:bodyPr/>
                    <a:lstStyle/>
                    <a:p>
                      <a:pPr algn="l"/>
                      <a:r>
                        <a:rPr lang="fr-FR" sz="1400">
                          <a:solidFill>
                            <a:srgbClr val="C8D6E5"/>
                          </a:solidFill>
                          <a:latin typeface="Open Sans"/>
                          <a:ea typeface="Open Sans"/>
                          <a:cs typeface="Open Sans"/>
                        </a:rPr>
                        <a:t>Texte vertical ou incliné</a:t>
                      </a:r>
                    </a:p>
                  </a:txBody>
                  <a:tcPr anchor="ctr">
                    <a:solidFill>
                      <a:srgbClr val="1B2A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b="1">
                          <a:solidFill>
                            <a:srgbClr val="E74C3C"/>
                          </a:solidFill>
                          <a:latin typeface="Open Sans"/>
                          <a:ea typeface="Open Sans"/>
                          <a:cs typeface="Open Sans"/>
                        </a:rPr>
                        <a:t>Élevé</a:t>
                      </a:r>
                    </a:p>
                  </a:txBody>
                  <a:tcPr anchor="ctr">
                    <a:solidFill>
                      <a:srgbClr val="1B2A3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1400">
                          <a:solidFill>
                            <a:srgbClr val="C8D6E5"/>
                          </a:solidFill>
                          <a:latin typeface="Open Sans"/>
                          <a:ea typeface="Open Sans"/>
                          <a:cs typeface="Open Sans"/>
                        </a:rPr>
                        <a:t>Correction d'angle automatique</a:t>
                      </a:r>
                    </a:p>
                  </a:txBody>
                  <a:tcPr anchor="ctr">
                    <a:solidFill>
                      <a:srgbClr val="1B2A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6104264"/>
                  </a:ext>
                </a:extLst>
              </a:tr>
              <a:tr h="719667">
                <a:tc>
                  <a:txBody>
                    <a:bodyPr/>
                    <a:lstStyle/>
                    <a:p>
                      <a:pPr algn="l"/>
                      <a:r>
                        <a:rPr lang="fr-FR" sz="1400">
                          <a:solidFill>
                            <a:srgbClr val="C8D6E5"/>
                          </a:solidFill>
                          <a:latin typeface="Open Sans"/>
                          <a:ea typeface="Open Sans"/>
                          <a:cs typeface="Open Sans"/>
                        </a:rPr>
                        <a:t>Polices décoratives / dorées</a:t>
                      </a:r>
                    </a:p>
                  </a:txBody>
                  <a:tcPr anchor="ctr">
                    <a:solidFill>
                      <a:srgbClr val="16223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b="1">
                          <a:solidFill>
                            <a:srgbClr val="E74C3C"/>
                          </a:solidFill>
                          <a:latin typeface="Open Sans"/>
                          <a:ea typeface="Open Sans"/>
                          <a:cs typeface="Open Sans"/>
                        </a:rPr>
                        <a:t>Élevé</a:t>
                      </a:r>
                    </a:p>
                  </a:txBody>
                  <a:tcPr anchor="ctr">
                    <a:solidFill>
                      <a:srgbClr val="16223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1400">
                          <a:solidFill>
                            <a:srgbClr val="C8D6E5"/>
                          </a:solidFill>
                          <a:latin typeface="Open Sans"/>
                          <a:ea typeface="Open Sans"/>
                          <a:cs typeface="Open Sans"/>
                        </a:rPr>
                        <a:t>Prétraitement contraste + fuzzy matching</a:t>
                      </a:r>
                    </a:p>
                  </a:txBody>
                  <a:tcPr anchor="ctr">
                    <a:solidFill>
                      <a:srgbClr val="1622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5895489"/>
                  </a:ext>
                </a:extLst>
              </a:tr>
              <a:tr h="719667">
                <a:tc>
                  <a:txBody>
                    <a:bodyPr/>
                    <a:lstStyle/>
                    <a:p>
                      <a:pPr algn="l"/>
                      <a:r>
                        <a:rPr lang="fr-FR" sz="1400">
                          <a:solidFill>
                            <a:srgbClr val="C8D6E5"/>
                          </a:solidFill>
                          <a:latin typeface="Open Sans"/>
                          <a:ea typeface="Open Sans"/>
                          <a:cs typeface="Open Sans"/>
                        </a:rPr>
                        <a:t>Tranches très fines (&lt; 1 cm)</a:t>
                      </a:r>
                    </a:p>
                  </a:txBody>
                  <a:tcPr anchor="ctr">
                    <a:solidFill>
                      <a:srgbClr val="1B2A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b="1">
                          <a:solidFill>
                            <a:srgbClr val="F39C12"/>
                          </a:solidFill>
                          <a:latin typeface="Open Sans"/>
                          <a:ea typeface="Open Sans"/>
                          <a:cs typeface="Open Sans"/>
                        </a:rPr>
                        <a:t>Moyen</a:t>
                      </a:r>
                    </a:p>
                  </a:txBody>
                  <a:tcPr anchor="ctr">
                    <a:solidFill>
                      <a:srgbClr val="1B2A3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1400">
                          <a:solidFill>
                            <a:srgbClr val="C8D6E5"/>
                          </a:solidFill>
                          <a:latin typeface="Open Sans"/>
                          <a:ea typeface="Open Sans"/>
                          <a:cs typeface="Open Sans"/>
                        </a:rPr>
                        <a:t>Haute résolution + signalement</a:t>
                      </a:r>
                    </a:p>
                  </a:txBody>
                  <a:tcPr anchor="ctr">
                    <a:solidFill>
                      <a:srgbClr val="1B2A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2196716"/>
                  </a:ext>
                </a:extLst>
              </a:tr>
              <a:tr h="719667">
                <a:tc>
                  <a:txBody>
                    <a:bodyPr/>
                    <a:lstStyle/>
                    <a:p>
                      <a:pPr algn="l"/>
                      <a:r>
                        <a:rPr lang="fr-FR" sz="1400">
                          <a:solidFill>
                            <a:srgbClr val="C8D6E5"/>
                          </a:solidFill>
                          <a:latin typeface="Open Sans"/>
                          <a:ea typeface="Open Sans"/>
                          <a:cs typeface="Open Sans"/>
                        </a:rPr>
                        <a:t>Reflets / ombres</a:t>
                      </a:r>
                    </a:p>
                  </a:txBody>
                  <a:tcPr anchor="ctr">
                    <a:solidFill>
                      <a:srgbClr val="16223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b="1">
                          <a:solidFill>
                            <a:srgbClr val="F39C12"/>
                          </a:solidFill>
                          <a:latin typeface="Open Sans"/>
                          <a:ea typeface="Open Sans"/>
                          <a:cs typeface="Open Sans"/>
                        </a:rPr>
                        <a:t>Moyen</a:t>
                      </a:r>
                    </a:p>
                  </a:txBody>
                  <a:tcPr anchor="ctr">
                    <a:solidFill>
                      <a:srgbClr val="16223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1400">
                          <a:solidFill>
                            <a:srgbClr val="C8D6E5"/>
                          </a:solidFill>
                          <a:latin typeface="Open Sans"/>
                          <a:ea typeface="Open Sans"/>
                          <a:cs typeface="Open Sans"/>
                        </a:rPr>
                        <a:t>CLAHE + consignes de prise de photo</a:t>
                      </a:r>
                    </a:p>
                  </a:txBody>
                  <a:tcPr anchor="ctr">
                    <a:solidFill>
                      <a:srgbClr val="1622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1706532"/>
                  </a:ext>
                </a:extLst>
              </a:tr>
              <a:tr h="719667">
                <a:tc>
                  <a:txBody>
                    <a:bodyPr/>
                    <a:lstStyle/>
                    <a:p>
                      <a:pPr algn="l"/>
                      <a:r>
                        <a:rPr lang="fr-FR" sz="1400">
                          <a:solidFill>
                            <a:srgbClr val="C8D6E5"/>
                          </a:solidFill>
                          <a:latin typeface="Open Sans"/>
                          <a:ea typeface="Open Sans"/>
                          <a:cs typeface="Open Sans"/>
                        </a:rPr>
                        <a:t>API indisponible</a:t>
                      </a:r>
                    </a:p>
                  </a:txBody>
                  <a:tcPr anchor="ctr">
                    <a:solidFill>
                      <a:srgbClr val="1B2A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b="1">
                          <a:solidFill>
                            <a:srgbClr val="2ECC71"/>
                          </a:solidFill>
                          <a:latin typeface="Open Sans"/>
                          <a:ea typeface="Open Sans"/>
                          <a:cs typeface="Open Sans"/>
                        </a:rPr>
                        <a:t>Faible</a:t>
                      </a:r>
                    </a:p>
                  </a:txBody>
                  <a:tcPr anchor="ctr">
                    <a:solidFill>
                      <a:srgbClr val="1B2A3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1400">
                          <a:solidFill>
                            <a:srgbClr val="C8D6E5"/>
                          </a:solidFill>
                          <a:latin typeface="Open Sans"/>
                          <a:ea typeface="Open Sans"/>
                          <a:cs typeface="Open Sans"/>
                        </a:rPr>
                        <a:t>Mode dégradé : texte brut affiché</a:t>
                      </a:r>
                    </a:p>
                  </a:txBody>
                  <a:tcPr anchor="ctr">
                    <a:solidFill>
                      <a:srgbClr val="1B2A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7940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157065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0E9BD3D-6B0D-486E-6F3C-E22BF22039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buNone/>
            </a:pPr>
            <a:r>
              <a:rPr lang="fr-FR" sz="3200" b="1" dirty="0">
                <a:solidFill>
                  <a:srgbClr val="F0F0F0"/>
                </a:solidFill>
                <a:latin typeface="Montserrat"/>
              </a:rPr>
              <a:t>Limites actuelles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1A05CF6-FCDA-85D4-A674-6536DFA030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983107"/>
          </a:xfrm>
        </p:spPr>
        <p:txBody>
          <a:bodyPr>
            <a:spAutoFit/>
          </a:bodyPr>
          <a:lstStyle/>
          <a:p>
            <a:pPr marL="342900" indent="-228600">
              <a:spcBef>
                <a:spcPts val="600"/>
              </a:spcBef>
              <a:buFont typeface="Arial"/>
              <a:buChar char="•"/>
            </a:pPr>
            <a:r>
              <a:rPr lang="fr-FR" sz="1800" b="1" dirty="0">
                <a:solidFill>
                  <a:srgbClr val="E74C3C"/>
                </a:solidFill>
                <a:latin typeface="Open Sans"/>
              </a:rPr>
              <a:t>Sensibilité à la qualité de l'image</a:t>
            </a:r>
          </a:p>
          <a:p>
            <a:pPr marL="685800" indent="-228600">
              <a:spcBef>
                <a:spcPts val="200"/>
              </a:spcBef>
              <a:buFont typeface="Arial"/>
              <a:buChar char="–"/>
            </a:pPr>
            <a:r>
              <a:rPr lang="fr-FR" sz="1600" dirty="0">
                <a:solidFill>
                  <a:srgbClr val="C8D6E5"/>
                </a:solidFill>
                <a:latin typeface="Open Sans"/>
              </a:rPr>
              <a:t>Résolution, éclairage et angle de prise de vue impactent fortement les résultats</a:t>
            </a:r>
          </a:p>
          <a:p>
            <a:pPr marL="342900" indent="-228600">
              <a:spcBef>
                <a:spcPts val="600"/>
              </a:spcBef>
              <a:buFont typeface="Arial"/>
              <a:buChar char="•"/>
            </a:pPr>
            <a:r>
              <a:rPr lang="fr-FR" sz="1800" b="1" dirty="0">
                <a:solidFill>
                  <a:srgbClr val="F39C12"/>
                </a:solidFill>
                <a:latin typeface="Open Sans"/>
              </a:rPr>
              <a:t>Texte vertical et polices décoratives</a:t>
            </a:r>
          </a:p>
          <a:p>
            <a:pPr marL="685800" indent="-228600">
              <a:spcBef>
                <a:spcPts val="200"/>
              </a:spcBef>
              <a:buFont typeface="Arial"/>
              <a:buChar char="–"/>
            </a:pPr>
            <a:r>
              <a:rPr lang="fr-FR" sz="1600" dirty="0">
                <a:solidFill>
                  <a:srgbClr val="C8D6E5"/>
                </a:solidFill>
                <a:latin typeface="Open Sans"/>
              </a:rPr>
              <a:t>La correction d'orientation aide mais ne résout pas tous les cas</a:t>
            </a:r>
          </a:p>
          <a:p>
            <a:pPr marL="342900" indent="-228600">
              <a:spcBef>
                <a:spcPts val="600"/>
              </a:spcBef>
              <a:buFont typeface="Arial"/>
              <a:buChar char="•"/>
            </a:pPr>
            <a:r>
              <a:rPr lang="fr-FR" sz="1800" b="1" dirty="0">
                <a:solidFill>
                  <a:srgbClr val="3498DB"/>
                </a:solidFill>
                <a:latin typeface="Open Sans"/>
              </a:rPr>
              <a:t>Dépendance aux API externes</a:t>
            </a:r>
          </a:p>
          <a:p>
            <a:pPr marL="685800" indent="-228600">
              <a:spcBef>
                <a:spcPts val="200"/>
              </a:spcBef>
              <a:buFont typeface="Arial"/>
              <a:buChar char="–"/>
            </a:pPr>
            <a:r>
              <a:rPr lang="fr-FR" sz="1600" dirty="0">
                <a:solidFill>
                  <a:srgbClr val="C8D6E5"/>
                </a:solidFill>
                <a:latin typeface="Open Sans"/>
              </a:rPr>
              <a:t>Google Books / Open Library nécessaires pour l'enrichissement</a:t>
            </a:r>
          </a:p>
          <a:p>
            <a:pPr marL="685800" indent="-228600">
              <a:spcBef>
                <a:spcPts val="200"/>
              </a:spcBef>
              <a:buFont typeface="Arial"/>
              <a:buChar char="–"/>
            </a:pPr>
            <a:r>
              <a:rPr lang="fr-FR" sz="1600" dirty="0">
                <a:solidFill>
                  <a:srgbClr val="C8D6E5"/>
                </a:solidFill>
                <a:latin typeface="Open Sans"/>
              </a:rPr>
              <a:t>Mode dégradé disponible (texte brut) en cas d'indisponibilité</a:t>
            </a:r>
          </a:p>
        </p:txBody>
      </p:sp>
    </p:spTree>
    <p:extLst>
      <p:ext uri="{BB962C8B-B14F-4D97-AF65-F5344CB8AC3E}">
        <p14:creationId xmlns:p14="http://schemas.microsoft.com/office/powerpoint/2010/main" val="18056613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7DD521F-01B0-ADC3-9B7F-16A8B561A0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fr-FR" sz="2800" b="1" dirty="0">
                <a:solidFill>
                  <a:srgbClr val="F0F0F0"/>
                </a:solidFill>
                <a:latin typeface="Montserrat"/>
              </a:rPr>
              <a:t>Du POC au produit : prochaines étapes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6869E8F-7076-A8F3-2FEA-6CB4573276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912866"/>
          </a:xfrm>
        </p:spPr>
        <p:txBody>
          <a:bodyPr>
            <a:spAutoFit/>
          </a:bodyPr>
          <a:lstStyle/>
          <a:p>
            <a:pPr>
              <a:buNone/>
            </a:pPr>
            <a:r>
              <a:rPr lang="fr-FR" sz="1600" b="1" dirty="0">
                <a:solidFill>
                  <a:srgbClr val="3498DB"/>
                </a:solidFill>
              </a:rPr>
              <a:t>Court terme — Consolider le POC</a:t>
            </a:r>
          </a:p>
          <a:p>
            <a:pPr marL="342900" indent="-228600">
              <a:buFont typeface="Arial"/>
              <a:buChar char="•"/>
            </a:pPr>
            <a:r>
              <a:rPr lang="fr-FR" sz="1400" dirty="0">
                <a:solidFill>
                  <a:srgbClr val="C8D6E5"/>
                </a:solidFill>
              </a:rPr>
              <a:t>Enrichir le dataset existant (15 images → 30+ photos annotées)</a:t>
            </a:r>
          </a:p>
          <a:p>
            <a:pPr marL="342900" indent="-228600">
              <a:buFont typeface="Arial"/>
              <a:buChar char="•"/>
            </a:pPr>
            <a:r>
              <a:rPr lang="fr-FR" sz="1400" dirty="0">
                <a:solidFill>
                  <a:srgbClr val="C8D6E5"/>
                </a:solidFill>
              </a:rPr>
              <a:t>Affiner le benchmark PaddleOCR / TrOCR / Tesseract (déjà initié)</a:t>
            </a:r>
          </a:p>
          <a:p>
            <a:pPr marL="342900" indent="-228600">
              <a:buFont typeface="Arial"/>
              <a:buChar char="•"/>
            </a:pPr>
            <a:r>
              <a:rPr lang="fr-FR" sz="1400" dirty="0">
                <a:solidFill>
                  <a:srgbClr val="C8D6E5"/>
                </a:solidFill>
              </a:rPr>
              <a:t>Cache local des résultats API pour réduire la dépendance</a:t>
            </a:r>
          </a:p>
          <a:p>
            <a:pPr>
              <a:buNone/>
            </a:pPr>
            <a:r>
              <a:rPr lang="fr-FR" sz="1600" b="1" dirty="0">
                <a:solidFill>
                  <a:srgbClr val="2ECC71"/>
                </a:solidFill>
              </a:rPr>
              <a:t>Moyen terme — Vers le produit</a:t>
            </a:r>
          </a:p>
          <a:p>
            <a:pPr marL="342900" indent="-228600">
              <a:buFont typeface="Arial"/>
              <a:buChar char="•"/>
            </a:pPr>
            <a:r>
              <a:rPr lang="fr-FR" sz="1400" dirty="0">
                <a:solidFill>
                  <a:srgbClr val="C8D6E5"/>
                </a:solidFill>
              </a:rPr>
              <a:t>Segmentation par deep learning (YOLO / Faster R-CNN)</a:t>
            </a:r>
          </a:p>
          <a:p>
            <a:pPr marL="342900" indent="-228600">
              <a:buFont typeface="Arial"/>
              <a:buChar char="•"/>
            </a:pPr>
            <a:r>
              <a:rPr lang="fr-FR" sz="1400" dirty="0">
                <a:solidFill>
                  <a:srgbClr val="C8D6E5"/>
                </a:solidFill>
              </a:rPr>
              <a:t>OCR multilingue — supporter davantage de langues</a:t>
            </a:r>
          </a:p>
          <a:p>
            <a:pPr marL="342900" indent="-228600">
              <a:buFont typeface="Arial"/>
              <a:buChar char="•"/>
            </a:pPr>
            <a:r>
              <a:rPr lang="fr-FR" sz="1400" dirty="0">
                <a:solidFill>
                  <a:srgbClr val="C8D6E5"/>
                </a:solidFill>
              </a:rPr>
              <a:t>Mode batch pour traiter des dossiers complets d'images</a:t>
            </a:r>
          </a:p>
          <a:p>
            <a:pPr>
              <a:buNone/>
            </a:pPr>
            <a:r>
              <a:rPr lang="fr-FR" sz="1600" b="1" dirty="0">
                <a:solidFill>
                  <a:srgbClr val="F39C12"/>
                </a:solidFill>
              </a:rPr>
              <a:t>Long terme — Application mobile complète</a:t>
            </a:r>
          </a:p>
          <a:p>
            <a:pPr marL="342900" indent="-228600">
              <a:buFont typeface="Arial"/>
              <a:buChar char="•"/>
            </a:pPr>
            <a:r>
              <a:rPr lang="fr-FR" sz="1400" dirty="0">
                <a:solidFill>
                  <a:srgbClr val="C8D6E5"/>
                </a:solidFill>
              </a:rPr>
              <a:t>Reconnaissance en temps réel (flux vidéo)</a:t>
            </a:r>
          </a:p>
          <a:p>
            <a:pPr marL="342900" indent="-228600">
              <a:buFont typeface="Arial"/>
              <a:buChar char="•"/>
            </a:pPr>
            <a:r>
              <a:rPr lang="fr-FR" sz="1400" dirty="0">
                <a:solidFill>
                  <a:srgbClr val="C8D6E5"/>
                </a:solidFill>
              </a:rPr>
              <a:t>Détection des livres mal rangés vs plan de classement</a:t>
            </a:r>
          </a:p>
          <a:p>
            <a:pPr marL="342900" indent="-228600">
              <a:buFont typeface="Arial"/>
              <a:buChar char="•"/>
            </a:pPr>
            <a:r>
              <a:rPr lang="fr-FR" sz="1400" dirty="0">
                <a:solidFill>
                  <a:srgbClr val="C8D6E5"/>
                </a:solidFill>
              </a:rPr>
              <a:t>Application mobile + intégration SIGB</a:t>
            </a:r>
          </a:p>
        </p:txBody>
      </p:sp>
      <p:pic>
        <p:nvPicPr>
          <p:cNvPr id="4" name="Graphic 4" descr="Rocket icon for next steps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30000" y="6350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1623573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ShelfScan">
      <a:dk1>
        <a:srgbClr val="F0F0F0"/>
      </a:dk1>
      <a:lt1>
        <a:srgbClr val="0F1B2D"/>
      </a:lt1>
      <a:dk2>
        <a:srgbClr val="C8D6E5"/>
      </a:dk2>
      <a:lt2>
        <a:srgbClr val="1B2A3F"/>
      </a:lt2>
      <a:accent1>
        <a:srgbClr val="3498DB"/>
      </a:accent1>
      <a:accent2>
        <a:srgbClr val="2ECC71"/>
      </a:accent2>
      <a:accent3>
        <a:srgbClr val="F39C12"/>
      </a:accent3>
      <a:accent4>
        <a:srgbClr val="E74C3C"/>
      </a:accent4>
      <a:accent5>
        <a:srgbClr val="9B59B6"/>
      </a:accent5>
      <a:accent6>
        <a:srgbClr val="1ABC9C"/>
      </a:accent6>
      <a:hlink>
        <a:srgbClr val="467886"/>
      </a:hlink>
      <a:folHlink>
        <a:srgbClr val="96607D"/>
      </a:folHlink>
    </a:clrScheme>
    <a:fontScheme name="ShelfScan">
      <a:majorFont>
        <a:latin typeface="Montserra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Open San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25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096F95F7-D5DA-D94B-A6A0-323AE37F12EF}">
  <we:reference id="wa200010001" version="1.0.0.0" store="en-US" storeType="OMEX"/>
  <we:alternateReferences>
    <we:reference id="wa200010001" version="1.0.0.0" store="en-US" storeType="OMEX"/>
  </we:alternateReferences>
  <we:properties>
    <we:property name="Office.AutoShowTaskpaneWithDocument" value="true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39</TotalTime>
  <Words>764</Words>
  <Application>Microsoft Office PowerPoint</Application>
  <PresentationFormat>Grand écran</PresentationFormat>
  <Paragraphs>165</Paragraphs>
  <Slides>14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14</vt:i4>
      </vt:variant>
    </vt:vector>
  </HeadingPairs>
  <TitlesOfParts>
    <vt:vector size="18" baseType="lpstr">
      <vt:lpstr>Arial</vt:lpstr>
      <vt:lpstr>Montserrat</vt:lpstr>
      <vt:lpstr>Open Sans</vt:lpstr>
      <vt:lpstr>Thème Office</vt:lpstr>
      <vt:lpstr>ShelfScan</vt:lpstr>
      <vt:lpstr>Sommaire</vt:lpstr>
      <vt:lpstr>Un livre mal rangé est un livre perdu</vt:lpstr>
      <vt:lpstr>ShelfScan : la Computer Vision au service des bibliothèques</vt:lpstr>
      <vt:lpstr>État de l'art</vt:lpstr>
      <vt:lpstr>Proof of Concept : de la photo à l'inventaire</vt:lpstr>
      <vt:lpstr>Architecture du pipeline</vt:lpstr>
      <vt:lpstr>Stack technique</vt:lpstr>
      <vt:lpstr>Comparaison des modèles OCR</vt:lpstr>
      <vt:lpstr>Post-traitement &amp; enrichissement API</vt:lpstr>
      <vt:lpstr>Démonstration : interface Streamlit</vt:lpstr>
      <vt:lpstr>Risques identifiés &amp; mitigations</vt:lpstr>
      <vt:lpstr>Limites actuelles</vt:lpstr>
      <vt:lpstr>Du POC au produit : prochaines étapes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Guilhem Rousseau</dc:creator>
  <cp:lastModifiedBy>Guilhem Rousseau</cp:lastModifiedBy>
  <cp:revision>4</cp:revision>
  <dcterms:created xsi:type="dcterms:W3CDTF">2026-03-09T19:48:36Z</dcterms:created>
  <dcterms:modified xsi:type="dcterms:W3CDTF">2026-03-10T18:49:16Z</dcterms:modified>
</cp:coreProperties>
</file>