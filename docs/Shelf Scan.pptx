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59325-20DF-7AC6-F720-8FDF1ECC1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0BE4A8-0BCD-735F-87AA-5303480E2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295E4-76D4-6FFA-B458-79332661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8C530B-61AC-D7FA-E434-AE54F1A8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C51A8D-2387-FBD3-CF4D-8D471B80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41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B5C31-591D-26B7-B172-766EE4BA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29A43-EA0B-26D5-DFF3-5BD4FA3C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24E806-6DA7-70BA-8CF0-50089154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2D5957-1337-D14E-899F-1C0BDE6C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DB002C-93D9-8312-1078-91AFAA77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89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8EBA5-8432-8E68-D9F2-FA59EC668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6F5B53-2AC9-59A9-C94D-453BC465B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497EC-A32D-E12B-76E4-11E6E938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9A279E-F9F6-4E5D-817E-FE6759A6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F9202-7144-971D-B0D1-77A90331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96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57FB97-9410-DBEE-0B90-D5F9EF7B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37857C-46EB-8BE6-BAEB-4B80D285D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479BC0-50F3-6690-4536-1169A7FEE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30319B-B9FD-2F1F-8A63-8D51C25B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F3FFFA-25D4-A336-5FCC-F79E1EC6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AACA82-8F14-992F-8737-2779F4CD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83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468CC-498C-97C6-A23D-11404F22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6212BB-08EF-BE55-D5FB-FB46C2EFA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69A854-6A86-C829-F0A4-8FA38FB93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5E20B8-9B48-86F3-879E-08F92F68D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FEEDB9-11CA-A919-88A6-15C30922A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EBD5EC-1381-4007-36AC-BD5F0D67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DD6DAD-EE30-4362-5E89-8418E5CC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258F7D1-34FA-90C4-E575-79F99BC8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57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615AC1-6826-7A48-B21C-8269BA9D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845C64-73D8-B272-B1CC-D3C2C526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7E8F0E-F4D1-F18D-3423-906F8A0D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EFE916-2D11-C1B3-ECEA-1CCFB5DD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6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F631E6-4B0F-9A59-6E75-44B256EF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BA9276-992B-E9EA-5DEC-B74AD378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D488E-68DC-7E34-4845-6171D5CB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56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AD8859-57FB-5CA9-BA90-2236E5DC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A5109-23AC-02DD-479F-F51726D3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0ED60A-CC10-2A1E-26F9-901AE2792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C4A1AA-D40E-A530-4F54-17DABDA8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A68682-F6A3-C0C3-546A-D07A2F3F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53680C-1393-19D1-0253-30E938E8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913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45711A-85CF-6883-1474-9F042A5D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E20A6C-5C72-348F-0B0A-9539A2F5D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BF36C7-37CA-EF41-E8B4-EAA83F156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C1B213-C52A-8EA6-3B0A-1BFC72B7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4DFE16-3E0C-EEFA-6654-5C28EA8B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2AB740-7196-EF43-AC4E-8860B425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24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922D1-1F3D-83B2-75AC-126DE55F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7C1191-A733-A1CD-7CB1-8C2385A30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4D1CF1-1AD6-0BA1-1657-080E0E1B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AE2440-AC03-BCAC-9096-9DF7134C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569F00-8250-8FB8-6661-634C4D0B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64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2057ED-01A7-F20D-981C-B6D31EC70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AAF0F8-D94B-BCBD-3351-BB74E6AFC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2DED5D-BE6F-7FC7-36BA-DD081EB9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6EBD9A-8109-A2C7-EA38-0B2787AE9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871A28-B778-6C67-36BC-0726515E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59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B2D"/>
            </a:gs>
            <a:gs pos="100000">
              <a:srgbClr val="16284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991E3D3-0538-06B9-60FD-C15CD796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37972E-D138-DD61-3597-010FB2BB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30022C-3FD9-9FBA-581E-3AC58AE72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DBFE5-08F8-CE40-8AA4-90CB853B5E0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59FB0B-76AF-26EC-5F47-03156E2DC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0C1F4-AE5D-D3DD-5D9C-E7DC383B0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3498DB"/>
              </a:gs>
              <a:gs pos="50000">
                <a:srgbClr val="2ECC71"/>
              </a:gs>
              <a:gs pos="100000">
                <a:srgbClr val="1ABC9C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1" name="TopLine"/>
          <p:cNvSpPr/>
          <p:nvPr userDrawn="1"/>
        </p:nvSpPr>
        <p:spPr>
          <a:xfrm>
            <a:off x="457200" y="0"/>
            <a:ext cx="11277600" cy="36000"/>
          </a:xfrm>
          <a:prstGeom prst="rect">
            <a:avLst/>
          </a:prstGeom>
          <a:solidFill>
            <a:srgbClr val="3498DB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07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D6E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8D6E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8D6E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A064A4-CDAE-2AA3-6BD1-F5D54E934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fr-FR" sz="4400" b="1" dirty="0">
                <a:solidFill>
                  <a:srgbClr val="F0F0F0"/>
                </a:solidFill>
                <a:latin typeface="Montserrat"/>
              </a:rPr>
              <a:t>ShelfScan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77E72E-4F48-293E-9A16-084F7FBFEB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sz="2000" dirty="0">
                <a:solidFill>
                  <a:srgbClr val="C8D6E5"/>
                </a:solidFill>
                <a:latin typeface="Open Sans"/>
              </a:rPr>
              <a:t>L'inventaire visuel intelligent pour bibliothèques publiques</a:t>
            </a:r>
          </a:p>
        </p:txBody>
      </p:sp>
      <p:pic>
        <p:nvPicPr>
          <p:cNvPr id="4" name="Graphic 4" descr="Books on shelf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635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4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D586B-AB5F-B423-22C2-1242EE59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Un livre mal rangé est un livre perdu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C7E00E-EB41-A836-80AC-3F88C0657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Des milliers de livres mal rangés chaque jour dans les bibliothèques publiques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Inventaire manuel : fastidieux et chronophage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Coût humain considérable pour les bibliothécaires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Usagers frustrés qui ne trouvent pas leurs ouvrages</a:t>
            </a:r>
          </a:p>
        </p:txBody>
      </p:sp>
      <p:pic>
        <p:nvPicPr>
          <p:cNvPr id="4" name="Graphic 4" descr="Book icon for problem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6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FAFBA-F6DF-AC2A-FBEB-0EB00EE6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ShelfScan : la Computer Vision au service des bibliothèques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9D30C9-E778-398F-0B1F-C1B45343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Filmer les étagères avec un smartphone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La reconnaissance visuelle identifie chaque livre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Détection automatique des livres mal rangés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Gain de temps massif pour le personnel</a:t>
            </a:r>
          </a:p>
        </p:txBody>
      </p:sp>
      <p:pic>
        <p:nvPicPr>
          <p:cNvPr id="4" name="Graphic 4" descr="Camera icon for solu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3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4B7C6-5711-49F2-6D8E-BE82E9F8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Proof of Concept : de la photo à l'inventaire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F52BE2-E88E-229B-9EF9-B8265E1F5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3498DB"/>
                </a:solidFill>
                <a:latin typeface="Open Sans"/>
              </a:rPr>
              <a:t>Entrée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une photo d'étagère de bibliothèque (JPEG/PNG)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2ECC71"/>
                </a:solidFill>
                <a:latin typeface="Open Sans"/>
              </a:rPr>
              <a:t>Sortie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liste structurée (titre, auteur, éditeur)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F39C12"/>
                </a:solidFill>
                <a:latin typeface="Open Sans"/>
              </a:rPr>
              <a:t>Format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export JSON ou CSV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9B59B6"/>
                </a:solidFill>
                <a:latin typeface="Open Sans"/>
              </a:rPr>
              <a:t>Enrichissement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API Google Books / Open Library</a:t>
            </a:r>
          </a:p>
        </p:txBody>
      </p:sp>
    </p:spTree>
    <p:extLst>
      <p:ext uri="{BB962C8B-B14F-4D97-AF65-F5344CB8AC3E}">
        <p14:creationId xmlns:p14="http://schemas.microsoft.com/office/powerpoint/2010/main" val="421652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51620-99E5-12FF-5E0B-90E20A74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Architecture du pipeline</a:t>
            </a:r>
          </a:p>
        </p:txBody>
      </p:sp>
      <p:sp>
        <p:nvSpPr>
          <p:cNvPr id="200" name="Step1"/>
          <p:cNvSpPr/>
          <p:nvPr/>
        </p:nvSpPr>
        <p:spPr>
          <a:xfrm>
            <a:off x="700000" y="17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3498DB">
              <a:alpha val="20000"/>
            </a:srgbClr>
          </a:solidFill>
          <a:ln w="25400">
            <a:solidFill>
              <a:srgbClr val="3498DB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3498DB"/>
                </a:solidFill>
              </a:rPr>
              <a:t>1. Acquisition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Photo</a:t>
            </a:r>
          </a:p>
        </p:txBody>
      </p:sp>
      <p:sp>
        <p:nvSpPr>
          <p:cNvPr id="201" name="Step2"/>
          <p:cNvSpPr/>
          <p:nvPr/>
        </p:nvSpPr>
        <p:spPr>
          <a:xfrm>
            <a:off x="3700000" y="17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2ECC71">
              <a:alpha val="20000"/>
            </a:srgbClr>
          </a:solidFill>
          <a:ln w="25400">
            <a:solidFill>
              <a:srgbClr val="2ECC71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2ECC71"/>
                </a:solidFill>
              </a:rPr>
              <a:t>2. Prétraitement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Contraste, perspective</a:t>
            </a:r>
          </a:p>
        </p:txBody>
      </p:sp>
      <p:sp>
        <p:nvSpPr>
          <p:cNvPr id="202" name="Step3"/>
          <p:cNvSpPr/>
          <p:nvPr/>
        </p:nvSpPr>
        <p:spPr>
          <a:xfrm>
            <a:off x="6700000" y="17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1ABC9C">
              <a:alpha val="20000"/>
            </a:srgbClr>
          </a:solidFill>
          <a:ln w="25400">
            <a:solidFill>
              <a:srgbClr val="1ABC9C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1ABC9C"/>
                </a:solidFill>
              </a:rPr>
              <a:t>3. Segmentation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Tranches de livres</a:t>
            </a:r>
          </a:p>
        </p:txBody>
      </p:sp>
      <p:sp>
        <p:nvSpPr>
          <p:cNvPr id="203" name="Step4"/>
          <p:cNvSpPr/>
          <p:nvPr/>
        </p:nvSpPr>
        <p:spPr>
          <a:xfrm>
            <a:off x="6700000" y="36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F39C12">
              <a:alpha val="20000"/>
            </a:srgbClr>
          </a:solidFill>
          <a:ln w="25400">
            <a:solidFill>
              <a:srgbClr val="F39C12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F39C12"/>
                </a:solidFill>
              </a:rPr>
              <a:t>4. Détection texte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Zones ROI</a:t>
            </a:r>
          </a:p>
        </p:txBody>
      </p:sp>
      <p:sp>
        <p:nvSpPr>
          <p:cNvPr id="204" name="Step5"/>
          <p:cNvSpPr/>
          <p:nvPr/>
        </p:nvSpPr>
        <p:spPr>
          <a:xfrm>
            <a:off x="3700000" y="36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E74C3C">
              <a:alpha val="20000"/>
            </a:srgbClr>
          </a:solidFill>
          <a:ln w="25400">
            <a:solidFill>
              <a:srgbClr val="E74C3C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E74C3C"/>
                </a:solidFill>
              </a:rPr>
              <a:t>5. OCR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Reconnaissance</a:t>
            </a:r>
          </a:p>
        </p:txBody>
      </p:sp>
      <p:sp>
        <p:nvSpPr>
          <p:cNvPr id="205" name="Step6"/>
          <p:cNvSpPr/>
          <p:nvPr/>
        </p:nvSpPr>
        <p:spPr>
          <a:xfrm>
            <a:off x="700000" y="36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9B59B6">
              <a:alpha val="20000"/>
            </a:srgbClr>
          </a:solidFill>
          <a:ln w="25400">
            <a:solidFill>
              <a:srgbClr val="9B59B6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9B59B6"/>
                </a:solidFill>
              </a:rPr>
              <a:t>6. Post-traitement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Enrichissement API</a:t>
            </a:r>
          </a:p>
        </p:txBody>
      </p:sp>
      <p:sp>
        <p:nvSpPr>
          <p:cNvPr id="210" name="Arrow0"/>
          <p:cNvSpPr/>
          <p:nvPr/>
        </p:nvSpPr>
        <p:spPr>
          <a:xfrm>
            <a:off x="3300000" y="2225000"/>
            <a:ext cx="400000" cy="150000"/>
          </a:xfrm>
          <a:prstGeom prst="righ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1" name="Arrow1"/>
          <p:cNvSpPr/>
          <p:nvPr/>
        </p:nvSpPr>
        <p:spPr>
          <a:xfrm>
            <a:off x="6300000" y="2225000"/>
            <a:ext cx="400000" cy="150000"/>
          </a:xfrm>
          <a:prstGeom prst="righ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5" name="ArrowDown"/>
          <p:cNvSpPr/>
          <p:nvPr/>
        </p:nvSpPr>
        <p:spPr>
          <a:xfrm rot="5400000">
            <a:off x="7925000" y="3175000"/>
            <a:ext cx="700000" cy="150000"/>
          </a:xfrm>
          <a:prstGeom prst="righ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0" name="ArrowBot0"/>
          <p:cNvSpPr/>
          <p:nvPr/>
        </p:nvSpPr>
        <p:spPr>
          <a:xfrm>
            <a:off x="6300000" y="4125000"/>
            <a:ext cx="400000" cy="150000"/>
          </a:xfrm>
          <a:prstGeom prst="lef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1" name="ArrowBot1"/>
          <p:cNvSpPr/>
          <p:nvPr/>
        </p:nvSpPr>
        <p:spPr>
          <a:xfrm>
            <a:off x="3300000" y="4125000"/>
            <a:ext cx="400000" cy="150000"/>
          </a:xfrm>
          <a:prstGeom prst="lef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0" name="Output"/>
          <p:cNvSpPr/>
          <p:nvPr/>
        </p:nvSpPr>
        <p:spPr>
          <a:xfrm>
            <a:off x="773805" y="5260605"/>
            <a:ext cx="3000000" cy="700000"/>
          </a:xfrm>
          <a:prstGeom prst="roundRect">
            <a:avLst>
              <a:gd name="adj" fmla="val 10000"/>
            </a:avLst>
          </a:prstGeom>
          <a:solidFill>
            <a:srgbClr val="2ECC71">
              <a:alpha val="30000"/>
            </a:srgbClr>
          </a:solidFill>
          <a:ln w="28575">
            <a:solidFill>
              <a:srgbClr val="2ECC71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2ECC71"/>
                </a:solidFill>
              </a:rPr>
              <a:t>Inventaire structuré (JSON/CSV)</a:t>
            </a:r>
          </a:p>
        </p:txBody>
      </p:sp>
      <p:sp>
        <p:nvSpPr>
          <p:cNvPr id="231" name="ArrowDown2"/>
          <p:cNvSpPr/>
          <p:nvPr/>
        </p:nvSpPr>
        <p:spPr>
          <a:xfrm rot="5400000">
            <a:off x="1800000" y="4957544"/>
            <a:ext cx="400000" cy="150000"/>
          </a:xfrm>
          <a:prstGeom prst="rightArrow">
            <a:avLst/>
          </a:prstGeom>
          <a:solidFill>
            <a:srgbClr val="2ECC71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34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25655-4D94-5528-01BB-3FED44C9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Stack technique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7CDA3DE-DB6D-4442-A0F7-491A96742BFD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778000"/>
          <a:ext cx="9144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331935232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1396064228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FFFFFF"/>
                          </a:solidFill>
                          <a:latin typeface="Montserrat"/>
                        </a:rPr>
                        <a:t>Composant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FFFFFF"/>
                          </a:solidFill>
                          <a:latin typeface="Montserrat"/>
                        </a:rPr>
                        <a:t>Technologie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184869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Langage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Python 3.10+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95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Traitement d'image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OpenCV, Pillow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6314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Détection de texte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CRAFT / PaddleOCR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6816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Reconnaissance OCR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PaddleOCR / TrOCR / Tesseract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32387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Deep Learning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PyTorch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6109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API bibliographique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Google Books / Open Library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079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Interface démo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Streamlit ou Gradio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0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81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7DAEC4-6115-3747-D3DC-B1D66C24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Métriques &amp; objectifs de succès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8FD4FD6-5B0D-5043-976B-1930244073AF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1905000"/>
          <a:ext cx="1016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3350151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63631481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8261372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Métrique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Cible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34516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Taux de détection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Livres correctement segmentés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2ECC71"/>
                          </a:solidFill>
                          <a:latin typeface="Open Sans"/>
                          <a:ea typeface="Open Sans"/>
                          <a:cs typeface="Open Sans"/>
                        </a:rPr>
                        <a:t>≥ 80%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7737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CER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Taux d'erreur par caractère (Levenshtein)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2ECC71"/>
                          </a:solidFill>
                          <a:latin typeface="Open Sans"/>
                          <a:ea typeface="Open Sans"/>
                          <a:cs typeface="Open Sans"/>
                        </a:rPr>
                        <a:t>≤ 20%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23755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Taux d'identification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Titre correct retrouvé via API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2ECC71"/>
                          </a:solidFill>
                          <a:latin typeface="Open Sans"/>
                          <a:ea typeface="Open Sans"/>
                          <a:cs typeface="Open Sans"/>
                        </a:rPr>
                        <a:t>≥ 60%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74448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Temps de traitement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 b="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Durée totale du pipeline / image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2ECC71"/>
                          </a:solidFill>
                          <a:latin typeface="Open Sans"/>
                          <a:ea typeface="Open Sans"/>
                          <a:cs typeface="Open Sans"/>
                        </a:rPr>
                        <a:t>&lt; 30s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864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52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1924F-CDDA-27B9-1A6A-FDA1E1E1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Démonstration : interface Streamlit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3E7AC-516F-D9DD-7DF8-C65CBE92F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1600" b="1" dirty="0">
                <a:solidFill>
                  <a:srgbClr val="3498DB"/>
                </a:solidFill>
              </a:rPr>
              <a:t>1. Upload</a:t>
            </a:r>
            <a:r>
              <a:rPr lang="fr-FR" sz="1600" dirty="0">
                <a:solidFill>
                  <a:srgbClr val="C8D6E5"/>
                </a:solidFill>
              </a:rPr>
              <a:t> — Charger une photo d'étagère (JPEG/PNG)</a:t>
            </a:r>
          </a:p>
          <a:p>
            <a:pPr>
              <a:buNone/>
            </a:pPr>
            <a:r>
              <a:rPr lang="fr-FR" sz="1600" b="1" dirty="0">
                <a:solidFill>
                  <a:srgbClr val="2ECC71"/>
                </a:solidFill>
              </a:rPr>
              <a:t>2. Visualisation</a:t>
            </a:r>
            <a:r>
              <a:rPr lang="fr-FR" sz="1600" dirty="0">
                <a:solidFill>
                  <a:srgbClr val="C8D6E5"/>
                </a:solidFill>
              </a:rPr>
              <a:t> — Pipeline étape par étape avec bounding boxes</a:t>
            </a:r>
          </a:p>
          <a:p>
            <a:pPr>
              <a:buNone/>
            </a:pPr>
            <a:r>
              <a:rPr lang="fr-FR" sz="1600" b="1" dirty="0">
                <a:solidFill>
                  <a:srgbClr val="F39C12"/>
                </a:solidFill>
              </a:rPr>
              <a:t>3. Inventaire</a:t>
            </a:r>
            <a:r>
              <a:rPr lang="fr-FR" sz="1600" dirty="0">
                <a:solidFill>
                  <a:srgbClr val="C8D6E5"/>
                </a:solidFill>
              </a:rPr>
              <a:t> — Tableau interactif (titre, auteur, confiance OCR)</a:t>
            </a:r>
          </a:p>
          <a:p>
            <a:pPr>
              <a:buNone/>
            </a:pPr>
            <a:r>
              <a:rPr lang="fr-FR" sz="1600" b="1" dirty="0">
                <a:solidFill>
                  <a:srgbClr val="E74C3C"/>
                </a:solidFill>
              </a:rPr>
              <a:t>4. Export</a:t>
            </a:r>
            <a:r>
              <a:rPr lang="fr-FR" sz="1600" dirty="0">
                <a:solidFill>
                  <a:srgbClr val="C8D6E5"/>
                </a:solidFill>
              </a:rPr>
              <a:t> — Télécharger les résultats en CSV ou JSON</a:t>
            </a:r>
          </a:p>
        </p:txBody>
      </p:sp>
    </p:spTree>
    <p:extLst>
      <p:ext uri="{BB962C8B-B14F-4D97-AF65-F5344CB8AC3E}">
        <p14:creationId xmlns:p14="http://schemas.microsoft.com/office/powerpoint/2010/main" val="3754614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B7B65-DD43-7D87-37F9-EA5B7FE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Risques identifiés &amp; mitigations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A40120E-805E-C142-B6E3-2B5C5F14DA5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10668000" cy="431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40388859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7881820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98215662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Risque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Impact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832404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 vertical ou incliné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E74C3C"/>
                          </a:solidFill>
                          <a:latin typeface="Open Sans"/>
                          <a:ea typeface="Open Sans"/>
                          <a:cs typeface="Open Sans"/>
                        </a:rPr>
                        <a:t>Élevé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Correction d'angle automatique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04264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Polices décoratives / dorées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E74C3C"/>
                          </a:solidFill>
                          <a:latin typeface="Open Sans"/>
                          <a:ea typeface="Open Sans"/>
                          <a:cs typeface="Open Sans"/>
                        </a:rPr>
                        <a:t>Élevé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Prétraitement contraste + fuzzy matching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95489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Tranches très fines (&lt; 1 cm)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39C12"/>
                          </a:solidFill>
                          <a:latin typeface="Open Sans"/>
                          <a:ea typeface="Open Sans"/>
                          <a:cs typeface="Open Sans"/>
                        </a:rPr>
                        <a:t>Moyen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Haute résolution + signalement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196716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Reflets / ombres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39C12"/>
                          </a:solidFill>
                          <a:latin typeface="Open Sans"/>
                          <a:ea typeface="Open Sans"/>
                          <a:cs typeface="Open Sans"/>
                        </a:rPr>
                        <a:t>Moyen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CLAHE + consignes de prise de photo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706532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API indisponible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2ECC71"/>
                          </a:solidFill>
                          <a:latin typeface="Open Sans"/>
                          <a:ea typeface="Open Sans"/>
                          <a:cs typeface="Open Sans"/>
                        </a:rPr>
                        <a:t>Faible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Mode dégradé : texte brut affiché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9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70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D521F-01B0-ADC3-9B7F-16A8B561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Du POC au produit : prochaines étapes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869E8F-7076-A8F3-2FEA-6CB457327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1600" b="1" dirty="0">
                <a:solidFill>
                  <a:srgbClr val="3498DB"/>
                </a:solidFill>
              </a:rPr>
              <a:t>Court terme — Valider le POC</a:t>
            </a:r>
          </a:p>
          <a:p>
            <a:pPr marL="342900" indent="-228600">
              <a:buFont typeface="Arial"/>
              <a:buChar char="•"/>
            </a:pPr>
            <a:r>
              <a:rPr lang="fr-FR" sz="1500" dirty="0">
                <a:solidFill>
                  <a:srgbClr val="C8D6E5"/>
                </a:solidFill>
              </a:rPr>
              <a:t>Constituer le dataset de 20-30 photos annotées</a:t>
            </a:r>
          </a:p>
          <a:p>
            <a:pPr marL="342900" indent="-228600">
              <a:buFont typeface="Arial"/>
              <a:buChar char="•"/>
            </a:pPr>
            <a:r>
              <a:rPr lang="fr-FR" sz="1500" dirty="0">
                <a:solidFill>
                  <a:srgbClr val="C8D6E5"/>
                </a:solidFill>
              </a:rPr>
              <a:t>Comparer PaddleOCR / TrOCR / Tesseract</a:t>
            </a:r>
          </a:p>
          <a:p>
            <a:pPr>
              <a:buNone/>
            </a:pPr>
            <a:r>
              <a:rPr lang="fr-FR" sz="1600" b="1" dirty="0">
                <a:solidFill>
                  <a:srgbClr val="2ECC71"/>
                </a:solidFill>
              </a:rPr>
              <a:t>Moyen terme — Vers le produit</a:t>
            </a:r>
          </a:p>
          <a:p>
            <a:pPr marL="342900" indent="-228600">
              <a:buFont typeface="Arial"/>
              <a:buChar char="•"/>
            </a:pPr>
            <a:r>
              <a:rPr lang="fr-FR" sz="1500" dirty="0">
                <a:solidFill>
                  <a:srgbClr val="C8D6E5"/>
                </a:solidFill>
              </a:rPr>
              <a:t>Reconnaissance en temps réel (flux vidéo)</a:t>
            </a:r>
          </a:p>
          <a:p>
            <a:pPr marL="342900" indent="-228600">
              <a:buFont typeface="Arial"/>
              <a:buChar char="•"/>
            </a:pPr>
            <a:r>
              <a:rPr lang="fr-FR" sz="1500" dirty="0">
                <a:solidFill>
                  <a:srgbClr val="C8D6E5"/>
                </a:solidFill>
              </a:rPr>
              <a:t>Détection des livres mal rangés vs plan de classement</a:t>
            </a:r>
          </a:p>
          <a:p>
            <a:pPr>
              <a:buNone/>
            </a:pPr>
            <a:r>
              <a:rPr lang="fr-FR" sz="1600" b="1" dirty="0">
                <a:solidFill>
                  <a:srgbClr val="F39C12"/>
                </a:solidFill>
              </a:rPr>
              <a:t>Long terme — Application mobile complète</a:t>
            </a:r>
          </a:p>
          <a:p>
            <a:pPr marL="342900" indent="-228600">
              <a:buFont typeface="Arial"/>
              <a:buChar char="•"/>
            </a:pPr>
            <a:r>
              <a:rPr lang="fr-FR" sz="1500" dirty="0">
                <a:solidFill>
                  <a:srgbClr val="C8D6E5"/>
                </a:solidFill>
              </a:rPr>
              <a:t>Application mobile pour les bibliothécaires sur le terrain</a:t>
            </a:r>
          </a:p>
          <a:p>
            <a:pPr marL="342900" indent="-228600">
              <a:buFont typeface="Arial"/>
              <a:buChar char="•"/>
            </a:pPr>
            <a:r>
              <a:rPr lang="fr-FR" sz="1500" dirty="0">
                <a:solidFill>
                  <a:srgbClr val="C8D6E5"/>
                </a:solidFill>
              </a:rPr>
              <a:t>Intégration avec les systèmes de gestion de bibliothèque (SIGB)</a:t>
            </a:r>
          </a:p>
        </p:txBody>
      </p:sp>
      <p:pic>
        <p:nvPicPr>
          <p:cNvPr id="4" name="Graphic 4" descr="Rocket icon for next step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893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helfScan">
      <a:dk1>
        <a:srgbClr val="F0F0F0"/>
      </a:dk1>
      <a:lt1>
        <a:srgbClr val="0F1B2D"/>
      </a:lt1>
      <a:dk2>
        <a:srgbClr val="C8D6E5"/>
      </a:dk2>
      <a:lt2>
        <a:srgbClr val="1B2A3F"/>
      </a:lt2>
      <a:accent1>
        <a:srgbClr val="3498DB"/>
      </a:accent1>
      <a:accent2>
        <a:srgbClr val="2ECC71"/>
      </a:accent2>
      <a:accent3>
        <a:srgbClr val="F39C12"/>
      </a:accent3>
      <a:accent4>
        <a:srgbClr val="E74C3C"/>
      </a:accent4>
      <a:accent5>
        <a:srgbClr val="9B59B6"/>
      </a:accent5>
      <a:accent6>
        <a:srgbClr val="1ABC9C"/>
      </a:accent6>
      <a:hlink>
        <a:srgbClr val="467886"/>
      </a:hlink>
      <a:folHlink>
        <a:srgbClr val="96607D"/>
      </a:folHlink>
    </a:clrScheme>
    <a:fontScheme name="ShelfScan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6F95F7-D5DA-D94B-A6A0-323AE37F12EF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442</Words>
  <Application>Microsoft Macintosh PowerPoint</Application>
  <PresentationFormat>Grand écran</PresentationFormat>
  <Paragraphs>98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Open Sans</vt:lpstr>
      <vt:lpstr>Thème Office</vt:lpstr>
      <vt:lpstr>ShelfScan</vt:lpstr>
      <vt:lpstr>Un livre mal rangé est un livre perdu</vt:lpstr>
      <vt:lpstr>ShelfScan : la Computer Vision au service des bibliothèques</vt:lpstr>
      <vt:lpstr>Proof of Concept : de la photo à l'inventaire</vt:lpstr>
      <vt:lpstr>Architecture du pipeline</vt:lpstr>
      <vt:lpstr>Stack technique</vt:lpstr>
      <vt:lpstr>Métriques &amp; objectifs de succès</vt:lpstr>
      <vt:lpstr>Démonstration : interface Streamlit</vt:lpstr>
      <vt:lpstr>Risques identifiés &amp; mitigations</vt:lpstr>
      <vt:lpstr>Du POC au produit : prochaines étapes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Guilhem Rousseau</dc:creator>
  <cp:lastModifiedBy>Guilhem Rousseau</cp:lastModifiedBy>
  <cp:revision>1</cp:revision>
  <dcterms:created xsi:type="dcterms:W3CDTF">2026-03-09T19:48:36Z</dcterms:created>
  <dcterms:modified xsi:type="dcterms:W3CDTF">2026-03-09T20:06:38Z</dcterms:modified>
</cp:coreProperties>
</file>