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77" r:id="rId3"/>
    <p:sldId id="278" r:id="rId4"/>
    <p:sldId id="286" r:id="rId5"/>
    <p:sldId id="287" r:id="rId6"/>
    <p:sldId id="281" r:id="rId7"/>
    <p:sldId id="282" r:id="rId8"/>
    <p:sldId id="283" r:id="rId9"/>
    <p:sldId id="284" r:id="rId10"/>
    <p:sldId id="288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82" d="100"/>
          <a:sy n="82" d="100"/>
        </p:scale>
        <p:origin x="8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59325-20DF-7AC6-F720-8FDF1ECC1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C0BE4A8-0BCD-735F-87AA-5303480E27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8295E4-76D4-6FFA-B458-793326618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8C530B-61AC-D7FA-E434-AE54F1A84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C51A8D-2387-FBD3-CF4D-8D471B80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415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DB5C31-591D-26B7-B172-766EE4BA7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A29A43-EA0B-26D5-DFF3-5BD4FA3C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24E806-6DA7-70BA-8CF0-50089154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92D5957-1337-D14E-899F-1C0BDE6C9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DB002C-93D9-8312-1078-91AFAA77D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6899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98EBA5-8432-8E68-D9F2-FA59EC668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6F5B53-2AC9-59A9-C94D-453BC465B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3497EC-A32D-E12B-76E4-11E6E938E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A9A279E-F9F6-4E5D-817E-FE6759A6B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5F9202-7144-971D-B0D1-77A90331D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9966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57FB97-9410-DBEE-0B90-D5F9EF7B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37857C-46EB-8BE6-BAEB-4B80D285DC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9479BC0-50F3-6690-4536-1169A7FEE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930319B-B9FD-2F1F-8A63-8D51C25B8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F3FFFA-25D4-A336-5FCC-F79E1EC67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DAACA82-8F14-992F-8737-2779F4C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834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468CC-498C-97C6-A23D-11404F227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6212BB-08EF-BE55-D5FB-FB46C2EFA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769A854-6A86-C829-F0A4-8FA38FB93E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15E20B8-9B48-86F3-879E-08F92F68D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DFEEDB9-11CA-A919-88A6-15C30922A1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7EBD5EC-1381-4007-36AC-BD5F0D675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3DD6DAD-EE30-4362-5E89-8418E5CC1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258F7D1-34FA-90C4-E575-79F99BC8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4572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615AC1-6826-7A48-B21C-8269BA9D2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A845C64-73D8-B272-B1CC-D3C2C526E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7E8F0E-F4D1-F18D-3423-906F8A0D8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0EFE916-2D11-C1B3-ECEA-1CCFB5DD2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2651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2F631E6-4B0F-9A59-6E75-44B256EFC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7BA9276-992B-E9EA-5DEC-B74AD3786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DD488E-68DC-7E34-4845-6171D5CBA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566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AD8859-57FB-5CA9-BA90-2236E5DCF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0A5109-23AC-02DD-479F-F51726D30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B0ED60A-CC10-2A1E-26F9-901AE2792A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C4A1AA-D40E-A530-4F54-17DABDA8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9A68682-F6A3-C0C3-546A-D07A2F3F6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53680C-1393-19D1-0253-30E938E81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913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45711A-85CF-6883-1474-9F042A5D0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6E20A6C-5C72-348F-0B0A-9539A2F5D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BF36C7-37CA-EF41-E8B4-EAA83F156E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C1B213-C52A-8EA6-3B0A-1BFC72B74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4DFE16-3E0C-EEFA-6654-5C28EA8B9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62AB740-7196-EF43-AC4E-8860B4254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62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B922D1-1F3D-83B2-75AC-126DE55F6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C7C1191-A733-A1CD-7CB1-8C2385A303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4D1CF1-1AD6-0BA1-1657-080E0E1B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AE2440-AC03-BCAC-9096-9DF7134CF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C569F00-8250-8FB8-6661-634C4D0B5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640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82057ED-01A7-F20D-981C-B6D31EC700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AAF0F8-D94B-BCBD-3351-BB74E6AFC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82DED5D-BE6F-7FC7-36BA-DD081EB96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6EBD9A-8109-A2C7-EA38-0B2787AE9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4871A28-B778-6C67-36BC-0726515E8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8597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F1B2D"/>
            </a:gs>
            <a:gs pos="100000">
              <a:srgbClr val="16284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991E3D3-0538-06B9-60FD-C15CD796F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937972E-D138-DD61-3597-010FB2BB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30022C-3FD9-9FBA-581E-3AC58AE72B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2DBFE5-08F8-CE40-8AA4-90CB853B5E08}" type="datetimeFigureOut">
              <a:rPr lang="fr-FR" smtClean="0"/>
              <a:t>10/03/2026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59FB0B-76AF-26EC-5F47-03156E2DC7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0C1F4-AE5D-D3DD-5D9C-E7DC383B0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FF2FF-DF0E-4E4B-87FD-5B6988E9B4C6}" type="slidenum">
              <a:rPr lang="fr-FR" smtClean="0"/>
              <a:t>‹N°›</a:t>
            </a:fld>
            <a:endParaRPr lang="fr-FR"/>
          </a:p>
        </p:txBody>
      </p:sp>
      <p:sp>
        <p:nvSpPr>
          <p:cNvPr id="900" name="AccentBar"/>
          <p:cNvSpPr/>
          <p:nvPr userDrawn="1"/>
        </p:nvSpPr>
        <p:spPr>
          <a:xfrm>
            <a:off x="0" y="6705600"/>
            <a:ext cx="12192000" cy="152400"/>
          </a:xfrm>
          <a:prstGeom prst="rect">
            <a:avLst/>
          </a:prstGeom>
          <a:gradFill>
            <a:gsLst>
              <a:gs pos="0">
                <a:srgbClr val="3498DB"/>
              </a:gs>
              <a:gs pos="50000">
                <a:srgbClr val="2ECC71"/>
              </a:gs>
              <a:gs pos="100000">
                <a:srgbClr val="1ABC9C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01" name="TopLine"/>
          <p:cNvSpPr/>
          <p:nvPr userDrawn="1"/>
        </p:nvSpPr>
        <p:spPr>
          <a:xfrm>
            <a:off x="457200" y="0"/>
            <a:ext cx="11277600" cy="36000"/>
          </a:xfrm>
          <a:prstGeom prst="rect">
            <a:avLst/>
          </a:prstGeom>
          <a:solidFill>
            <a:srgbClr val="3498DB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076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0F0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C8D6E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C8D6E5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C8D6E5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8D6E5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C8D6E5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rgbClr val="C8D6E5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C8D6E5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C8D6E5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C8D6E5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C8D6E5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A064A4-CDAE-2AA3-6BD1-F5D54E934E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buNone/>
            </a:pPr>
            <a:r>
              <a:rPr lang="fr-FR" sz="4400" b="1" dirty="0">
                <a:solidFill>
                  <a:srgbClr val="F0F0F0"/>
                </a:solidFill>
                <a:latin typeface="Montserrat"/>
              </a:rPr>
              <a:t>ShelfScan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77E72E-4F48-293E-9A16-084F7FBFEB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fr-FR" sz="2000" dirty="0">
                <a:solidFill>
                  <a:srgbClr val="C8D6E5"/>
                </a:solidFill>
                <a:latin typeface="Open Sans"/>
              </a:rPr>
              <a:t>L'inventaire visuel intelligent pour bibliothèques publiques</a:t>
            </a:r>
          </a:p>
        </p:txBody>
      </p:sp>
      <p:pic>
        <p:nvPicPr>
          <p:cNvPr id="4" name="Graphic 4" descr="Books on shelf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0" y="63500"/>
            <a:ext cx="10160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045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BD586B-AB5F-B423-22C2-1242EE597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Un livre mal rangé est un livre perdu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C7E00E-EB41-A836-80AC-3F88C0657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Des milliers de livres mal rangés chaque jour dans les bibliothèques publiques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Inventaire manuel : fastidieux et chronophage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Coût humain considérable pour les bibliothécaires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Usagers frustrés qui ne trouvent pas leurs ouvrages</a:t>
            </a:r>
          </a:p>
        </p:txBody>
      </p:sp>
      <p:pic>
        <p:nvPicPr>
          <p:cNvPr id="4" name="Graphic 4" descr="Book icon for problem sli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0" y="635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061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FAFBA-F6DF-AC2A-FBEB-0EB00EE6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2800" b="1" dirty="0">
                <a:solidFill>
                  <a:srgbClr val="F0F0F0"/>
                </a:solidFill>
                <a:latin typeface="Montserrat"/>
              </a:rPr>
              <a:t>ShelfScan : la Computer Vision au service des bibliothèques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9D30C9-E778-398F-0B1F-C1B453433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Filmer les étagères avec un smartphone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La reconnaissance visuelle identifie chaque livre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Détection automatique des livres mal rangés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dirty="0">
                <a:solidFill>
                  <a:srgbClr val="C8D6E5"/>
                </a:solidFill>
                <a:latin typeface="Open Sans"/>
              </a:rPr>
              <a:t>Gain de temps massif pour le personnel</a:t>
            </a:r>
          </a:p>
        </p:txBody>
      </p:sp>
      <p:pic>
        <p:nvPicPr>
          <p:cNvPr id="4" name="Graphic 4" descr="Camera icon for solu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0" y="635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94B7C6-5711-49F2-6D8E-BE82E9F80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2800" b="1" dirty="0">
                <a:solidFill>
                  <a:srgbClr val="F0F0F0"/>
                </a:solidFill>
                <a:latin typeface="Montserrat"/>
              </a:rPr>
              <a:t>Proof of Concept : de la photo à l'inventaire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F52BE2-E88E-229B-9EF9-B8265E1F5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0361"/>
          </a:xfrm>
        </p:spPr>
        <p:txBody>
          <a:bodyPr>
            <a:spAutoFit/>
          </a:bodyPr>
          <a:lstStyle/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b="1" dirty="0">
                <a:solidFill>
                  <a:srgbClr val="3498DB"/>
                </a:solidFill>
                <a:latin typeface="Open Sans"/>
              </a:rPr>
              <a:t>Entrée : </a:t>
            </a:r>
            <a:r>
              <a:rPr lang="fr-FR" sz="1800" dirty="0">
                <a:solidFill>
                  <a:srgbClr val="C8D6E5"/>
                </a:solidFill>
                <a:latin typeface="Open Sans"/>
              </a:rPr>
              <a:t>une photo d'étagère de bibliothèque (JPEG/PNG)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b="1" dirty="0">
                <a:solidFill>
                  <a:srgbClr val="2ECC71"/>
                </a:solidFill>
                <a:latin typeface="Open Sans"/>
              </a:rPr>
              <a:t>Sortie : </a:t>
            </a:r>
            <a:r>
              <a:rPr lang="fr-FR" sz="1800" dirty="0">
                <a:solidFill>
                  <a:srgbClr val="C8D6E5"/>
                </a:solidFill>
                <a:latin typeface="Open Sans"/>
              </a:rPr>
              <a:t>liste structurée (titre, auteur, ISBN)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b="1" dirty="0">
                <a:solidFill>
                  <a:srgbClr val="F39C12"/>
                </a:solidFill>
                <a:latin typeface="Open Sans"/>
              </a:rPr>
              <a:t>Format : </a:t>
            </a:r>
            <a:r>
              <a:rPr lang="fr-FR" sz="1800" dirty="0">
                <a:solidFill>
                  <a:srgbClr val="C8D6E5"/>
                </a:solidFill>
                <a:latin typeface="Open Sans"/>
              </a:rPr>
              <a:t>export JSON ou CSV</a:t>
            </a:r>
          </a:p>
          <a:p>
            <a:pPr marL="342900" indent="-228600">
              <a:spcBef>
                <a:spcPts val="600"/>
              </a:spcBef>
              <a:buFont typeface="Arial"/>
              <a:buChar char="•"/>
            </a:pPr>
            <a:r>
              <a:rPr lang="fr-FR" sz="1800" b="1" dirty="0">
                <a:solidFill>
                  <a:srgbClr val="9B59B6"/>
                </a:solidFill>
                <a:latin typeface="Open Sans"/>
              </a:rPr>
              <a:t>Enrichissement : </a:t>
            </a:r>
            <a:r>
              <a:rPr lang="fr-FR" sz="1800" dirty="0">
                <a:solidFill>
                  <a:srgbClr val="C8D6E5"/>
                </a:solidFill>
                <a:latin typeface="Open Sans"/>
              </a:rPr>
              <a:t>API Google Books / Open Library</a:t>
            </a:r>
          </a:p>
        </p:txBody>
      </p:sp>
    </p:spTree>
    <p:extLst>
      <p:ext uri="{BB962C8B-B14F-4D97-AF65-F5344CB8AC3E}">
        <p14:creationId xmlns:p14="http://schemas.microsoft.com/office/powerpoint/2010/main" val="1350128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751620-99E5-12FF-5E0B-90E20A74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Architecture du pipeline</a:t>
            </a:r>
          </a:p>
        </p:txBody>
      </p:sp>
      <p:sp>
        <p:nvSpPr>
          <p:cNvPr id="200" name="Step1"/>
          <p:cNvSpPr/>
          <p:nvPr/>
        </p:nvSpPr>
        <p:spPr>
          <a:xfrm>
            <a:off x="700000" y="17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3498DB">
              <a:alpha val="20000"/>
            </a:srgbClr>
          </a:solidFill>
          <a:ln w="25400">
            <a:solidFill>
              <a:srgbClr val="3498DB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3498DB"/>
                </a:solidFill>
              </a:rPr>
              <a:t>1. Acquisition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Photo</a:t>
            </a:r>
          </a:p>
        </p:txBody>
      </p:sp>
      <p:sp>
        <p:nvSpPr>
          <p:cNvPr id="201" name="Step2"/>
          <p:cNvSpPr/>
          <p:nvPr/>
        </p:nvSpPr>
        <p:spPr>
          <a:xfrm>
            <a:off x="3700000" y="17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2ECC71">
              <a:alpha val="20000"/>
            </a:srgbClr>
          </a:solidFill>
          <a:ln w="25400">
            <a:solidFill>
              <a:srgbClr val="2ECC71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2ECC71"/>
                </a:solidFill>
              </a:rPr>
              <a:t>2. Prétraitement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Contraste (CLAHE)</a:t>
            </a:r>
          </a:p>
        </p:txBody>
      </p:sp>
      <p:sp>
        <p:nvSpPr>
          <p:cNvPr id="202" name="Step3"/>
          <p:cNvSpPr/>
          <p:nvPr/>
        </p:nvSpPr>
        <p:spPr>
          <a:xfrm>
            <a:off x="6700000" y="17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1ABC9C">
              <a:alpha val="20000"/>
            </a:srgbClr>
          </a:solidFill>
          <a:ln w="25400">
            <a:solidFill>
              <a:srgbClr val="1ABC9C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1ABC9C"/>
                </a:solidFill>
              </a:rPr>
              <a:t>3. Segmentation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Tranches de livres</a:t>
            </a:r>
          </a:p>
        </p:txBody>
      </p:sp>
      <p:sp>
        <p:nvSpPr>
          <p:cNvPr id="203" name="Step4"/>
          <p:cNvSpPr/>
          <p:nvPr/>
        </p:nvSpPr>
        <p:spPr>
          <a:xfrm>
            <a:off x="6700000" y="36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F39C12">
              <a:alpha val="20000"/>
            </a:srgbClr>
          </a:solidFill>
          <a:ln w="25400">
            <a:solidFill>
              <a:srgbClr val="F39C12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F39C12"/>
                </a:solidFill>
              </a:rPr>
              <a:t>4. Détection texte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Zones ROI</a:t>
            </a:r>
          </a:p>
        </p:txBody>
      </p:sp>
      <p:sp>
        <p:nvSpPr>
          <p:cNvPr id="204" name="Step5"/>
          <p:cNvSpPr/>
          <p:nvPr/>
        </p:nvSpPr>
        <p:spPr>
          <a:xfrm>
            <a:off x="3700000" y="36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E74C3C">
              <a:alpha val="20000"/>
            </a:srgbClr>
          </a:solidFill>
          <a:ln w="25400">
            <a:solidFill>
              <a:srgbClr val="E74C3C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E74C3C"/>
                </a:solidFill>
              </a:rPr>
              <a:t>5. OCR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Reconnaissance</a:t>
            </a:r>
          </a:p>
        </p:txBody>
      </p:sp>
      <p:sp>
        <p:nvSpPr>
          <p:cNvPr id="205" name="Step6"/>
          <p:cNvSpPr/>
          <p:nvPr/>
        </p:nvSpPr>
        <p:spPr>
          <a:xfrm>
            <a:off x="700000" y="3600000"/>
            <a:ext cx="2600000" cy="1200000"/>
          </a:xfrm>
          <a:prstGeom prst="roundRect">
            <a:avLst>
              <a:gd name="adj" fmla="val 10000"/>
            </a:avLst>
          </a:prstGeom>
          <a:solidFill>
            <a:srgbClr val="9B59B6">
              <a:alpha val="20000"/>
            </a:srgbClr>
          </a:solidFill>
          <a:ln w="25400">
            <a:solidFill>
              <a:srgbClr val="9B59B6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9B59B6"/>
                </a:solidFill>
              </a:rPr>
              <a:t>6. Post-traitement</a:t>
            </a:r>
          </a:p>
          <a:p>
            <a:pPr algn="ctr">
              <a:buNone/>
            </a:pPr>
            <a:r>
              <a:rPr lang="fr-FR" sz="1400" dirty="0">
                <a:solidFill>
                  <a:srgbClr val="C8D6E5"/>
                </a:solidFill>
              </a:rPr>
              <a:t>Enrichissement API</a:t>
            </a:r>
          </a:p>
        </p:txBody>
      </p:sp>
      <p:sp>
        <p:nvSpPr>
          <p:cNvPr id="210" name="Arrow0"/>
          <p:cNvSpPr/>
          <p:nvPr/>
        </p:nvSpPr>
        <p:spPr>
          <a:xfrm>
            <a:off x="3300000" y="2225000"/>
            <a:ext cx="400000" cy="150000"/>
          </a:xfrm>
          <a:prstGeom prst="rightArrow">
            <a:avLst/>
          </a:prstGeom>
          <a:solidFill>
            <a:srgbClr val="3498DB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11" name="Arrow1"/>
          <p:cNvSpPr/>
          <p:nvPr/>
        </p:nvSpPr>
        <p:spPr>
          <a:xfrm>
            <a:off x="6300000" y="2225000"/>
            <a:ext cx="400000" cy="150000"/>
          </a:xfrm>
          <a:prstGeom prst="rightArrow">
            <a:avLst/>
          </a:prstGeom>
          <a:solidFill>
            <a:srgbClr val="3498DB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15" name="ArrowDown"/>
          <p:cNvSpPr/>
          <p:nvPr/>
        </p:nvSpPr>
        <p:spPr>
          <a:xfrm rot="5400000">
            <a:off x="7925000" y="3175000"/>
            <a:ext cx="700000" cy="150000"/>
          </a:xfrm>
          <a:prstGeom prst="rightArrow">
            <a:avLst/>
          </a:prstGeom>
          <a:solidFill>
            <a:srgbClr val="3498DB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20" name="ArrowBot0"/>
          <p:cNvSpPr/>
          <p:nvPr/>
        </p:nvSpPr>
        <p:spPr>
          <a:xfrm>
            <a:off x="6300000" y="4125000"/>
            <a:ext cx="400000" cy="150000"/>
          </a:xfrm>
          <a:prstGeom prst="leftArrow">
            <a:avLst/>
          </a:prstGeom>
          <a:solidFill>
            <a:srgbClr val="3498DB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21" name="ArrowBot1"/>
          <p:cNvSpPr/>
          <p:nvPr/>
        </p:nvSpPr>
        <p:spPr>
          <a:xfrm>
            <a:off x="3300000" y="4125000"/>
            <a:ext cx="400000" cy="150000"/>
          </a:xfrm>
          <a:prstGeom prst="leftArrow">
            <a:avLst/>
          </a:prstGeom>
          <a:solidFill>
            <a:srgbClr val="3498DB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30" name="Output"/>
          <p:cNvSpPr/>
          <p:nvPr/>
        </p:nvSpPr>
        <p:spPr>
          <a:xfrm>
            <a:off x="773805" y="5260605"/>
            <a:ext cx="3000000" cy="700000"/>
          </a:xfrm>
          <a:prstGeom prst="roundRect">
            <a:avLst>
              <a:gd name="adj" fmla="val 10000"/>
            </a:avLst>
          </a:prstGeom>
          <a:solidFill>
            <a:srgbClr val="2ECC71">
              <a:alpha val="30000"/>
            </a:srgbClr>
          </a:solidFill>
          <a:ln w="28575">
            <a:solidFill>
              <a:srgbClr val="2ECC71"/>
            </a:solidFill>
          </a:ln>
        </p:spPr>
        <p:txBody>
          <a:bodyPr lIns="91440" tIns="45720" rIns="91440" bIns="45720" anchor="ctr" anchorCtr="0"/>
          <a:lstStyle/>
          <a:p>
            <a:pPr algn="ctr">
              <a:buNone/>
            </a:pPr>
            <a:r>
              <a:rPr lang="fr-FR" sz="1600" b="1" dirty="0">
                <a:solidFill>
                  <a:srgbClr val="2ECC71"/>
                </a:solidFill>
              </a:rPr>
              <a:t>Inventaire structuré (JSON/CSV)</a:t>
            </a:r>
          </a:p>
        </p:txBody>
      </p:sp>
      <p:sp>
        <p:nvSpPr>
          <p:cNvPr id="231" name="ArrowDown2"/>
          <p:cNvSpPr/>
          <p:nvPr/>
        </p:nvSpPr>
        <p:spPr>
          <a:xfrm rot="5400000">
            <a:off x="1800000" y="4957544"/>
            <a:ext cx="400000" cy="150000"/>
          </a:xfrm>
          <a:prstGeom prst="rightArrow">
            <a:avLst/>
          </a:prstGeom>
          <a:solidFill>
            <a:srgbClr val="2ECC71">
              <a:alpha val="60000"/>
            </a:srgbClr>
          </a:solidFill>
          <a:ln w="0"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463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925655-4D94-5528-01BB-3FED44C93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Stack technique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7CDA3DE-DB6D-4442-A0F7-491A96742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104921"/>
              </p:ext>
            </p:extLst>
          </p:nvPr>
        </p:nvGraphicFramePr>
        <p:xfrm>
          <a:off x="1524000" y="1778000"/>
          <a:ext cx="91440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3331935232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396064228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algn="ctr"/>
                      <a:r>
                        <a:rPr lang="fr-FR" sz="1600" b="1">
                          <a:solidFill>
                            <a:srgbClr val="FFFFFF"/>
                          </a:solidFill>
                          <a:latin typeface="Montserrat"/>
                        </a:rPr>
                        <a:t>Composant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>
                          <a:solidFill>
                            <a:srgbClr val="FFFFFF"/>
                          </a:solidFill>
                          <a:latin typeface="Montserrat"/>
                        </a:rPr>
                        <a:t>Technologie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184869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Langage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Python 3.10+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797954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Traitement d'image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OpenCV, Pillow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763144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Détection de texte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PaddleOCR (DB-Net)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681604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Reconnaissance OCR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PaddleOCR / TrOCR / Tesseract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323874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Deep Learning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PyTorch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656109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API bibliographique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Google Books / Open Library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0793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Interface démo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307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7815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7DAEC4-6115-3747-D3DC-B1D66C244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Métriques &amp; objectifs de succès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8FD4FD6-5B0D-5043-976B-1930244073AF}"/>
              </a:ext>
            </a:extLst>
          </p:cNvPr>
          <p:cNvGraphicFramePr>
            <a:graphicFrameLocks noGrp="1"/>
          </p:cNvGraphicFramePr>
          <p:nvPr/>
        </p:nvGraphicFramePr>
        <p:xfrm>
          <a:off x="1016000" y="1905000"/>
          <a:ext cx="10160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233501518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3636314819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82613725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Métrique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Cible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3451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Taux de détection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Livres correctement segmentés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2ECC71"/>
                          </a:solidFill>
                          <a:latin typeface="Open Sans"/>
                          <a:ea typeface="Open Sans"/>
                          <a:cs typeface="Open Sans"/>
                        </a:rPr>
                        <a:t>≥ 80%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27737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CER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Taux d'erreur par caractère (Levenshtein)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2ECC71"/>
                          </a:solidFill>
                          <a:latin typeface="Open Sans"/>
                          <a:ea typeface="Open Sans"/>
                          <a:cs typeface="Open Sans"/>
                        </a:rPr>
                        <a:t>≤ 20%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23755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Taux d'identification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Titre correct retrouvé via API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2ECC71"/>
                          </a:solidFill>
                          <a:latin typeface="Open Sans"/>
                          <a:ea typeface="Open Sans"/>
                          <a:cs typeface="Open Sans"/>
                        </a:rPr>
                        <a:t>≥ 60%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74448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Temps de traitement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500" b="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Durée totale du pipeline / image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2ECC71"/>
                          </a:solidFill>
                          <a:latin typeface="Open Sans"/>
                          <a:ea typeface="Open Sans"/>
                          <a:cs typeface="Open Sans"/>
                        </a:rPr>
                        <a:t>&lt; 30s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864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3526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61924F-CDDA-27B9-1A6A-FDA1E1E18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Démonstration : interface Streamlit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833E7AC-516F-D9DD-7DF8-C65CBE92F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1600" b="1" dirty="0">
                <a:solidFill>
                  <a:srgbClr val="3498DB"/>
                </a:solidFill>
              </a:rPr>
              <a:t>1. Upload</a:t>
            </a:r>
            <a:r>
              <a:rPr lang="fr-FR" sz="1600" dirty="0">
                <a:solidFill>
                  <a:srgbClr val="C8D6E5"/>
                </a:solidFill>
              </a:rPr>
              <a:t> — Charger une photo d'étagère (JPEG/PNG)</a:t>
            </a:r>
          </a:p>
          <a:p>
            <a:pPr>
              <a:buNone/>
            </a:pPr>
            <a:r>
              <a:rPr lang="fr-FR" sz="1600" b="1" dirty="0">
                <a:solidFill>
                  <a:srgbClr val="2ECC71"/>
                </a:solidFill>
              </a:rPr>
              <a:t>2. Visualisation</a:t>
            </a:r>
            <a:r>
              <a:rPr lang="fr-FR" sz="1600" dirty="0">
                <a:solidFill>
                  <a:srgbClr val="C8D6E5"/>
                </a:solidFill>
              </a:rPr>
              <a:t> — Pipeline étape par étape avec bounding boxes</a:t>
            </a:r>
          </a:p>
          <a:p>
            <a:pPr>
              <a:buNone/>
            </a:pPr>
            <a:r>
              <a:rPr lang="fr-FR" sz="1600" b="1" dirty="0">
                <a:solidFill>
                  <a:srgbClr val="F39C12"/>
                </a:solidFill>
              </a:rPr>
              <a:t>3. Inventaire</a:t>
            </a:r>
            <a:r>
              <a:rPr lang="fr-FR" sz="1600" dirty="0">
                <a:solidFill>
                  <a:srgbClr val="C8D6E5"/>
                </a:solidFill>
              </a:rPr>
              <a:t> — Tableau interactif (titre, auteur, confiance OCR)</a:t>
            </a:r>
          </a:p>
          <a:p>
            <a:pPr>
              <a:buNone/>
            </a:pPr>
            <a:r>
              <a:rPr lang="fr-FR" sz="1600" b="1" dirty="0">
                <a:solidFill>
                  <a:srgbClr val="E74C3C"/>
                </a:solidFill>
              </a:rPr>
              <a:t>4. Export</a:t>
            </a:r>
            <a:r>
              <a:rPr lang="fr-FR" sz="1600" dirty="0">
                <a:solidFill>
                  <a:srgbClr val="C8D6E5"/>
                </a:solidFill>
              </a:rPr>
              <a:t> — Télécharger les résultats en CSV ou JSON</a:t>
            </a:r>
          </a:p>
        </p:txBody>
      </p:sp>
    </p:spTree>
    <p:extLst>
      <p:ext uri="{BB962C8B-B14F-4D97-AF65-F5344CB8AC3E}">
        <p14:creationId xmlns:p14="http://schemas.microsoft.com/office/powerpoint/2010/main" val="375461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0B7B65-DD43-7D87-37F9-EA5B7FE5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3200" b="1" dirty="0">
                <a:solidFill>
                  <a:srgbClr val="F0F0F0"/>
                </a:solidFill>
                <a:latin typeface="Montserrat"/>
              </a:rPr>
              <a:t>Risques identifiés &amp; mitigations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A40120E-805E-C142-B6E3-2B5C5F14DA51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905000"/>
          <a:ext cx="10668000" cy="4318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340388859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7881820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98215662"/>
                    </a:ext>
                  </a:extLst>
                </a:gridCol>
              </a:tblGrid>
              <a:tr h="719667"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Risque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Impact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500" b="1">
                          <a:solidFill>
                            <a:srgbClr val="FFFFFF"/>
                          </a:solidFill>
                          <a:latin typeface="Montserrat"/>
                        </a:rPr>
                        <a:t>Mitigation</a:t>
                      </a:r>
                    </a:p>
                  </a:txBody>
                  <a:tcPr anchor="ctr">
                    <a:solidFill>
                      <a:srgbClr val="3498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832404"/>
                  </a:ext>
                </a:extLst>
              </a:tr>
              <a:tr h="719667"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Texte vertical ou incliné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>
                          <a:solidFill>
                            <a:srgbClr val="E74C3C"/>
                          </a:solidFill>
                          <a:latin typeface="Open Sans"/>
                          <a:ea typeface="Open Sans"/>
                          <a:cs typeface="Open Sans"/>
                        </a:rPr>
                        <a:t>Élevé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Correction d'angle automatique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04264"/>
                  </a:ext>
                </a:extLst>
              </a:tr>
              <a:tr h="719667"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Polices décoratives / dorées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>
                          <a:solidFill>
                            <a:srgbClr val="E74C3C"/>
                          </a:solidFill>
                          <a:latin typeface="Open Sans"/>
                          <a:ea typeface="Open Sans"/>
                          <a:cs typeface="Open Sans"/>
                        </a:rPr>
                        <a:t>Élevé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Prétraitement contraste + fuzzy matching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895489"/>
                  </a:ext>
                </a:extLst>
              </a:tr>
              <a:tr h="719667"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Tranches très fines (&lt; 1 cm)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>
                          <a:solidFill>
                            <a:srgbClr val="F39C12"/>
                          </a:solidFill>
                          <a:latin typeface="Open Sans"/>
                          <a:ea typeface="Open Sans"/>
                          <a:cs typeface="Open Sans"/>
                        </a:rPr>
                        <a:t>Moyen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Haute résolution + signalement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196716"/>
                  </a:ext>
                </a:extLst>
              </a:tr>
              <a:tr h="719667"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Reflets / ombres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>
                          <a:solidFill>
                            <a:srgbClr val="F39C12"/>
                          </a:solidFill>
                          <a:latin typeface="Open Sans"/>
                          <a:ea typeface="Open Sans"/>
                          <a:cs typeface="Open Sans"/>
                        </a:rPr>
                        <a:t>Moyen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CLAHE + consignes de prise de photo</a:t>
                      </a:r>
                    </a:p>
                  </a:txBody>
                  <a:tcPr anchor="ctr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706532"/>
                  </a:ext>
                </a:extLst>
              </a:tr>
              <a:tr h="719667"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API indisponible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>
                          <a:solidFill>
                            <a:srgbClr val="2ECC71"/>
                          </a:solidFill>
                          <a:latin typeface="Open Sans"/>
                          <a:ea typeface="Open Sans"/>
                          <a:cs typeface="Open Sans"/>
                        </a:rPr>
                        <a:t>Faible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>
                          <a:solidFill>
                            <a:srgbClr val="C8D6E5"/>
                          </a:solidFill>
                          <a:latin typeface="Open Sans"/>
                          <a:ea typeface="Open Sans"/>
                          <a:cs typeface="Open Sans"/>
                        </a:rPr>
                        <a:t>Mode dégradé : texte brut affiché</a:t>
                      </a:r>
                    </a:p>
                  </a:txBody>
                  <a:tcPr anchor="ctr">
                    <a:solidFill>
                      <a:srgbClr val="1B2A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94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706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DD521F-01B0-ADC3-9B7F-16A8B561A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fr-FR" sz="2800" b="1" dirty="0">
                <a:solidFill>
                  <a:srgbClr val="F0F0F0"/>
                </a:solidFill>
                <a:latin typeface="Montserrat"/>
              </a:rPr>
              <a:t>Du POC au produit : prochaines étapes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869E8F-7076-A8F3-2FEA-6CB457327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29547"/>
          </a:xfrm>
        </p:spPr>
        <p:txBody>
          <a:bodyPr>
            <a:spAutoFit/>
          </a:bodyPr>
          <a:lstStyle/>
          <a:p>
            <a:pPr>
              <a:buNone/>
            </a:pPr>
            <a:r>
              <a:rPr lang="fr-FR" sz="1600" b="1" dirty="0">
                <a:solidFill>
                  <a:srgbClr val="3498DB"/>
                </a:solidFill>
              </a:rPr>
              <a:t>Court terme — Consolider le POC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Enrichir le dataset existant (15 images → 30+ photos annotées)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Affiner le benchmark PaddleOCR / TrOCR / Tesseract (déjà initié)</a:t>
            </a:r>
          </a:p>
          <a:p>
            <a:pPr>
              <a:buNone/>
            </a:pPr>
            <a:r>
              <a:rPr lang="fr-FR" sz="1600" b="1" dirty="0">
                <a:solidFill>
                  <a:srgbClr val="2ECC71"/>
                </a:solidFill>
              </a:rPr>
              <a:t>Moyen terme — Vers le produit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Reconnaissance en temps réel (flux vidéo)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Détection des livres mal rangés vs plan de classement</a:t>
            </a:r>
          </a:p>
          <a:p>
            <a:pPr>
              <a:buNone/>
            </a:pPr>
            <a:r>
              <a:rPr lang="fr-FR" sz="1600" b="1" dirty="0">
                <a:solidFill>
                  <a:srgbClr val="F39C12"/>
                </a:solidFill>
              </a:rPr>
              <a:t>Long terme — Application mobile complète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Application mobile pour les bibliothécaires sur le terrain</a:t>
            </a:r>
          </a:p>
          <a:p>
            <a:pPr marL="342900" indent="-228600">
              <a:buFont typeface="Arial"/>
              <a:buChar char="•"/>
            </a:pPr>
            <a:r>
              <a:rPr lang="fr-FR" sz="1500" dirty="0">
                <a:solidFill>
                  <a:srgbClr val="C8D6E5"/>
                </a:solidFill>
              </a:rPr>
              <a:t>Intégration avec les systèmes de gestion de bibliothèque (SIGB)</a:t>
            </a:r>
          </a:p>
        </p:txBody>
      </p:sp>
      <p:pic>
        <p:nvPicPr>
          <p:cNvPr id="4" name="Graphic 4" descr="Rocket icon for next step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0" y="6350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3216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ShelfScan">
      <a:dk1>
        <a:srgbClr val="F0F0F0"/>
      </a:dk1>
      <a:lt1>
        <a:srgbClr val="0F1B2D"/>
      </a:lt1>
      <a:dk2>
        <a:srgbClr val="C8D6E5"/>
      </a:dk2>
      <a:lt2>
        <a:srgbClr val="1B2A3F"/>
      </a:lt2>
      <a:accent1>
        <a:srgbClr val="3498DB"/>
      </a:accent1>
      <a:accent2>
        <a:srgbClr val="2ECC71"/>
      </a:accent2>
      <a:accent3>
        <a:srgbClr val="F39C12"/>
      </a:accent3>
      <a:accent4>
        <a:srgbClr val="E74C3C"/>
      </a:accent4>
      <a:accent5>
        <a:srgbClr val="9B59B6"/>
      </a:accent5>
      <a:accent6>
        <a:srgbClr val="1ABC9C"/>
      </a:accent6>
      <a:hlink>
        <a:srgbClr val="467886"/>
      </a:hlink>
      <a:folHlink>
        <a:srgbClr val="96607D"/>
      </a:folHlink>
    </a:clrScheme>
    <a:fontScheme name="ShelfScan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96F95F7-D5DA-D94B-A6A0-323AE37F12EF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454</Words>
  <Application>Microsoft Office PowerPoint</Application>
  <PresentationFormat>Grand écran</PresentationFormat>
  <Paragraphs>98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Montserrat</vt:lpstr>
      <vt:lpstr>Open Sans</vt:lpstr>
      <vt:lpstr>Thème Office</vt:lpstr>
      <vt:lpstr>ShelfScan</vt:lpstr>
      <vt:lpstr>Un livre mal rangé est un livre perdu</vt:lpstr>
      <vt:lpstr>ShelfScan : la Computer Vision au service des bibliothèques</vt:lpstr>
      <vt:lpstr>Proof of Concept : de la photo à l'inventaire</vt:lpstr>
      <vt:lpstr>Architecture du pipeline</vt:lpstr>
      <vt:lpstr>Stack technique</vt:lpstr>
      <vt:lpstr>Métriques &amp; objectifs de succès</vt:lpstr>
      <vt:lpstr>Démonstration : interface Streamlit</vt:lpstr>
      <vt:lpstr>Risques identifiés &amp; mitigations</vt:lpstr>
      <vt:lpstr>Du POC au produit : prochaines étapes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Guilhem Rousseau</dc:creator>
  <cp:lastModifiedBy>Guilhem Rousseau</cp:lastModifiedBy>
  <cp:revision>2</cp:revision>
  <dcterms:created xsi:type="dcterms:W3CDTF">2026-03-09T19:48:36Z</dcterms:created>
  <dcterms:modified xsi:type="dcterms:W3CDTF">2026-03-10T18:24:42Z</dcterms:modified>
</cp:coreProperties>
</file>